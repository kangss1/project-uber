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7"/>
    <p:restoredTop sz="94638"/>
  </p:normalViewPr>
  <p:slideViewPr>
    <p:cSldViewPr snapToGrid="0" snapToObjects="1">
      <p:cViewPr varScale="1">
        <p:scale>
          <a:sx n="96" d="100"/>
          <a:sy n="96" d="100"/>
        </p:scale>
        <p:origin x="184" y="6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F6DACE-0B01-4613-8A80-5BCE36465AE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ABD0051-09CC-4F3C-B0D9-D17C2857FF3D}">
      <dgm:prSet/>
      <dgm:spPr/>
      <dgm:t>
        <a:bodyPr/>
        <a:lstStyle/>
        <a:p>
          <a:r>
            <a:rPr lang="en-US"/>
            <a:t>Hypothesis: Integrated ML pipeline improves predictive accuracy and operational insight.</a:t>
          </a:r>
        </a:p>
      </dgm:t>
    </dgm:pt>
    <dgm:pt modelId="{58D2AF21-4BBF-4AB8-B85A-A015D0A8228C}" type="parTrans" cxnId="{C6F779DC-C65B-4DE7-B632-18F1E3AB11D7}">
      <dgm:prSet/>
      <dgm:spPr/>
      <dgm:t>
        <a:bodyPr/>
        <a:lstStyle/>
        <a:p>
          <a:endParaRPr lang="en-US"/>
        </a:p>
      </dgm:t>
    </dgm:pt>
    <dgm:pt modelId="{4BEA7711-E202-40D8-82B7-8B90CF49E198}" type="sibTrans" cxnId="{C6F779DC-C65B-4DE7-B632-18F1E3AB11D7}">
      <dgm:prSet/>
      <dgm:spPr/>
      <dgm:t>
        <a:bodyPr/>
        <a:lstStyle/>
        <a:p>
          <a:endParaRPr lang="en-US"/>
        </a:p>
      </dgm:t>
    </dgm:pt>
    <dgm:pt modelId="{3FB20AD5-FBEA-4E61-A71D-259DFC8191D6}">
      <dgm:prSet/>
      <dgm:spPr/>
      <dgm:t>
        <a:bodyPr/>
        <a:lstStyle/>
        <a:p>
          <a:r>
            <a:rPr lang="en-US"/>
            <a:t>RQ1: Can we forecast demand and revenue accurately at hourly scale?</a:t>
          </a:r>
        </a:p>
      </dgm:t>
    </dgm:pt>
    <dgm:pt modelId="{3E8DA85E-9D97-42AD-A3C9-C9E8AD3E0E0B}" type="parTrans" cxnId="{9C53F9BB-FD2D-44CD-AD17-AE09E6404CFE}">
      <dgm:prSet/>
      <dgm:spPr/>
      <dgm:t>
        <a:bodyPr/>
        <a:lstStyle/>
        <a:p>
          <a:endParaRPr lang="en-US"/>
        </a:p>
      </dgm:t>
    </dgm:pt>
    <dgm:pt modelId="{AC17DE5F-1D7F-44F7-BE99-23D88F692E64}" type="sibTrans" cxnId="{9C53F9BB-FD2D-44CD-AD17-AE09E6404CFE}">
      <dgm:prSet/>
      <dgm:spPr/>
      <dgm:t>
        <a:bodyPr/>
        <a:lstStyle/>
        <a:p>
          <a:endParaRPr lang="en-US"/>
        </a:p>
      </dgm:t>
    </dgm:pt>
    <dgm:pt modelId="{064EEF32-1B19-4FED-98A1-F27816FDD48D}">
      <dgm:prSet/>
      <dgm:spPr/>
      <dgm:t>
        <a:bodyPr/>
        <a:lstStyle/>
        <a:p>
          <a:r>
            <a:rPr lang="en-US"/>
            <a:t>RQ2: Can forecasts inform pricing and resource allocation decisions?</a:t>
          </a:r>
        </a:p>
      </dgm:t>
    </dgm:pt>
    <dgm:pt modelId="{CDE76B98-9B82-4CFC-BD6A-6204686DFE7A}" type="parTrans" cxnId="{3F268F40-71BB-4285-9F07-AA235B0593D9}">
      <dgm:prSet/>
      <dgm:spPr/>
      <dgm:t>
        <a:bodyPr/>
        <a:lstStyle/>
        <a:p>
          <a:endParaRPr lang="en-US"/>
        </a:p>
      </dgm:t>
    </dgm:pt>
    <dgm:pt modelId="{1D286FB1-792A-4AF3-B109-AA7F66F62BFE}" type="sibTrans" cxnId="{3F268F40-71BB-4285-9F07-AA235B0593D9}">
      <dgm:prSet/>
      <dgm:spPr/>
      <dgm:t>
        <a:bodyPr/>
        <a:lstStyle/>
        <a:p>
          <a:endParaRPr lang="en-US"/>
        </a:p>
      </dgm:t>
    </dgm:pt>
    <dgm:pt modelId="{137EA273-E85E-A242-A22B-AA7D62BF2BCD}" type="pres">
      <dgm:prSet presAssocID="{3DF6DACE-0B01-4613-8A80-5BCE36465AE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A2ED70D-EB85-904C-9D54-0C879550097C}" type="pres">
      <dgm:prSet presAssocID="{BABD0051-09CC-4F3C-B0D9-D17C2857FF3D}" presName="hierRoot1" presStyleCnt="0"/>
      <dgm:spPr/>
    </dgm:pt>
    <dgm:pt modelId="{8A5152A6-1512-814B-A9D9-EBFA1CBC792F}" type="pres">
      <dgm:prSet presAssocID="{BABD0051-09CC-4F3C-B0D9-D17C2857FF3D}" presName="composite" presStyleCnt="0"/>
      <dgm:spPr/>
    </dgm:pt>
    <dgm:pt modelId="{E8F24025-E987-EB49-9F34-197CD489AFFD}" type="pres">
      <dgm:prSet presAssocID="{BABD0051-09CC-4F3C-B0D9-D17C2857FF3D}" presName="background" presStyleLbl="node0" presStyleIdx="0" presStyleCnt="3"/>
      <dgm:spPr/>
    </dgm:pt>
    <dgm:pt modelId="{0CCC41B6-4CA1-6142-896C-E660473F1212}" type="pres">
      <dgm:prSet presAssocID="{BABD0051-09CC-4F3C-B0D9-D17C2857FF3D}" presName="text" presStyleLbl="fgAcc0" presStyleIdx="0" presStyleCnt="3">
        <dgm:presLayoutVars>
          <dgm:chPref val="3"/>
        </dgm:presLayoutVars>
      </dgm:prSet>
      <dgm:spPr/>
    </dgm:pt>
    <dgm:pt modelId="{481A6189-CA9C-0D41-940E-A5A90B52FE6C}" type="pres">
      <dgm:prSet presAssocID="{BABD0051-09CC-4F3C-B0D9-D17C2857FF3D}" presName="hierChild2" presStyleCnt="0"/>
      <dgm:spPr/>
    </dgm:pt>
    <dgm:pt modelId="{87A084AE-B18A-474E-B049-852CAE94ED12}" type="pres">
      <dgm:prSet presAssocID="{3FB20AD5-FBEA-4E61-A71D-259DFC8191D6}" presName="hierRoot1" presStyleCnt="0"/>
      <dgm:spPr/>
    </dgm:pt>
    <dgm:pt modelId="{5DFB1BDA-53EA-E14E-8D65-44EF69771123}" type="pres">
      <dgm:prSet presAssocID="{3FB20AD5-FBEA-4E61-A71D-259DFC8191D6}" presName="composite" presStyleCnt="0"/>
      <dgm:spPr/>
    </dgm:pt>
    <dgm:pt modelId="{DBE77B03-66F6-B342-8AE4-B333F1BC1FF3}" type="pres">
      <dgm:prSet presAssocID="{3FB20AD5-FBEA-4E61-A71D-259DFC8191D6}" presName="background" presStyleLbl="node0" presStyleIdx="1" presStyleCnt="3"/>
      <dgm:spPr/>
    </dgm:pt>
    <dgm:pt modelId="{98FF2E30-5D64-A541-A549-5D00260DAD16}" type="pres">
      <dgm:prSet presAssocID="{3FB20AD5-FBEA-4E61-A71D-259DFC8191D6}" presName="text" presStyleLbl="fgAcc0" presStyleIdx="1" presStyleCnt="3">
        <dgm:presLayoutVars>
          <dgm:chPref val="3"/>
        </dgm:presLayoutVars>
      </dgm:prSet>
      <dgm:spPr/>
    </dgm:pt>
    <dgm:pt modelId="{361D2B45-0174-F24A-9D50-375A26B33236}" type="pres">
      <dgm:prSet presAssocID="{3FB20AD5-FBEA-4E61-A71D-259DFC8191D6}" presName="hierChild2" presStyleCnt="0"/>
      <dgm:spPr/>
    </dgm:pt>
    <dgm:pt modelId="{0EE1E7C3-7CF7-4444-8679-B30531713795}" type="pres">
      <dgm:prSet presAssocID="{064EEF32-1B19-4FED-98A1-F27816FDD48D}" presName="hierRoot1" presStyleCnt="0"/>
      <dgm:spPr/>
    </dgm:pt>
    <dgm:pt modelId="{1A1F3236-AD72-3B41-ADA2-8A2539945A02}" type="pres">
      <dgm:prSet presAssocID="{064EEF32-1B19-4FED-98A1-F27816FDD48D}" presName="composite" presStyleCnt="0"/>
      <dgm:spPr/>
    </dgm:pt>
    <dgm:pt modelId="{EAC07C42-12A2-884B-B1E4-3F6E34BC4A6E}" type="pres">
      <dgm:prSet presAssocID="{064EEF32-1B19-4FED-98A1-F27816FDD48D}" presName="background" presStyleLbl="node0" presStyleIdx="2" presStyleCnt="3"/>
      <dgm:spPr/>
    </dgm:pt>
    <dgm:pt modelId="{49D969A2-C4C8-CA4A-93DB-20AE1370B999}" type="pres">
      <dgm:prSet presAssocID="{064EEF32-1B19-4FED-98A1-F27816FDD48D}" presName="text" presStyleLbl="fgAcc0" presStyleIdx="2" presStyleCnt="3">
        <dgm:presLayoutVars>
          <dgm:chPref val="3"/>
        </dgm:presLayoutVars>
      </dgm:prSet>
      <dgm:spPr/>
    </dgm:pt>
    <dgm:pt modelId="{FC3BBF1D-8A11-024B-8E5C-A57D4ECA9A87}" type="pres">
      <dgm:prSet presAssocID="{064EEF32-1B19-4FED-98A1-F27816FDD48D}" presName="hierChild2" presStyleCnt="0"/>
      <dgm:spPr/>
    </dgm:pt>
  </dgm:ptLst>
  <dgm:cxnLst>
    <dgm:cxn modelId="{3F268F40-71BB-4285-9F07-AA235B0593D9}" srcId="{3DF6DACE-0B01-4613-8A80-5BCE36465AE2}" destId="{064EEF32-1B19-4FED-98A1-F27816FDD48D}" srcOrd="2" destOrd="0" parTransId="{CDE76B98-9B82-4CFC-BD6A-6204686DFE7A}" sibTransId="{1D286FB1-792A-4AF3-B109-AA7F66F62BFE}"/>
    <dgm:cxn modelId="{75E68863-E983-C649-BC5B-482C56CE32D2}" type="presOf" srcId="{3DF6DACE-0B01-4613-8A80-5BCE36465AE2}" destId="{137EA273-E85E-A242-A22B-AA7D62BF2BCD}" srcOrd="0" destOrd="0" presId="urn:microsoft.com/office/officeart/2005/8/layout/hierarchy1"/>
    <dgm:cxn modelId="{9C53F9BB-FD2D-44CD-AD17-AE09E6404CFE}" srcId="{3DF6DACE-0B01-4613-8A80-5BCE36465AE2}" destId="{3FB20AD5-FBEA-4E61-A71D-259DFC8191D6}" srcOrd="1" destOrd="0" parTransId="{3E8DA85E-9D97-42AD-A3C9-C9E8AD3E0E0B}" sibTransId="{AC17DE5F-1D7F-44F7-BE99-23D88F692E64}"/>
    <dgm:cxn modelId="{C6F779DC-C65B-4DE7-B632-18F1E3AB11D7}" srcId="{3DF6DACE-0B01-4613-8A80-5BCE36465AE2}" destId="{BABD0051-09CC-4F3C-B0D9-D17C2857FF3D}" srcOrd="0" destOrd="0" parTransId="{58D2AF21-4BBF-4AB8-B85A-A015D0A8228C}" sibTransId="{4BEA7711-E202-40D8-82B7-8B90CF49E198}"/>
    <dgm:cxn modelId="{0EE85DE2-557B-0E4D-8C2D-49AE4A4744B5}" type="presOf" srcId="{BABD0051-09CC-4F3C-B0D9-D17C2857FF3D}" destId="{0CCC41B6-4CA1-6142-896C-E660473F1212}" srcOrd="0" destOrd="0" presId="urn:microsoft.com/office/officeart/2005/8/layout/hierarchy1"/>
    <dgm:cxn modelId="{918C1BEF-1BD2-F34E-8EFB-BBDC1D515C31}" type="presOf" srcId="{3FB20AD5-FBEA-4E61-A71D-259DFC8191D6}" destId="{98FF2E30-5D64-A541-A549-5D00260DAD16}" srcOrd="0" destOrd="0" presId="urn:microsoft.com/office/officeart/2005/8/layout/hierarchy1"/>
    <dgm:cxn modelId="{44706DFD-047E-9E4B-96A0-76F233A5CE44}" type="presOf" srcId="{064EEF32-1B19-4FED-98A1-F27816FDD48D}" destId="{49D969A2-C4C8-CA4A-93DB-20AE1370B999}" srcOrd="0" destOrd="0" presId="urn:microsoft.com/office/officeart/2005/8/layout/hierarchy1"/>
    <dgm:cxn modelId="{F9C12874-66B5-A14B-9C43-121C91EB0CFC}" type="presParOf" srcId="{137EA273-E85E-A242-A22B-AA7D62BF2BCD}" destId="{DA2ED70D-EB85-904C-9D54-0C879550097C}" srcOrd="0" destOrd="0" presId="urn:microsoft.com/office/officeart/2005/8/layout/hierarchy1"/>
    <dgm:cxn modelId="{AFD4FEDE-3560-BD4A-B3E3-0B57560349E6}" type="presParOf" srcId="{DA2ED70D-EB85-904C-9D54-0C879550097C}" destId="{8A5152A6-1512-814B-A9D9-EBFA1CBC792F}" srcOrd="0" destOrd="0" presId="urn:microsoft.com/office/officeart/2005/8/layout/hierarchy1"/>
    <dgm:cxn modelId="{22CABCCF-639F-544F-806E-E14017103729}" type="presParOf" srcId="{8A5152A6-1512-814B-A9D9-EBFA1CBC792F}" destId="{E8F24025-E987-EB49-9F34-197CD489AFFD}" srcOrd="0" destOrd="0" presId="urn:microsoft.com/office/officeart/2005/8/layout/hierarchy1"/>
    <dgm:cxn modelId="{F7FAC0D7-F8E7-7147-9DB3-AAB31E6BBC8E}" type="presParOf" srcId="{8A5152A6-1512-814B-A9D9-EBFA1CBC792F}" destId="{0CCC41B6-4CA1-6142-896C-E660473F1212}" srcOrd="1" destOrd="0" presId="urn:microsoft.com/office/officeart/2005/8/layout/hierarchy1"/>
    <dgm:cxn modelId="{51632AF3-84C0-6B4B-8BF9-93B810B914F9}" type="presParOf" srcId="{DA2ED70D-EB85-904C-9D54-0C879550097C}" destId="{481A6189-CA9C-0D41-940E-A5A90B52FE6C}" srcOrd="1" destOrd="0" presId="urn:microsoft.com/office/officeart/2005/8/layout/hierarchy1"/>
    <dgm:cxn modelId="{C181C9F0-A167-214E-B83F-F8BD2939F115}" type="presParOf" srcId="{137EA273-E85E-A242-A22B-AA7D62BF2BCD}" destId="{87A084AE-B18A-474E-B049-852CAE94ED12}" srcOrd="1" destOrd="0" presId="urn:microsoft.com/office/officeart/2005/8/layout/hierarchy1"/>
    <dgm:cxn modelId="{F3F04DCC-6F41-D04B-93F9-13850B639E00}" type="presParOf" srcId="{87A084AE-B18A-474E-B049-852CAE94ED12}" destId="{5DFB1BDA-53EA-E14E-8D65-44EF69771123}" srcOrd="0" destOrd="0" presId="urn:microsoft.com/office/officeart/2005/8/layout/hierarchy1"/>
    <dgm:cxn modelId="{31878A07-1D14-8848-A75A-8D6C5D14DB35}" type="presParOf" srcId="{5DFB1BDA-53EA-E14E-8D65-44EF69771123}" destId="{DBE77B03-66F6-B342-8AE4-B333F1BC1FF3}" srcOrd="0" destOrd="0" presId="urn:microsoft.com/office/officeart/2005/8/layout/hierarchy1"/>
    <dgm:cxn modelId="{ADE7167C-CA39-F942-92AA-92BC81C4493A}" type="presParOf" srcId="{5DFB1BDA-53EA-E14E-8D65-44EF69771123}" destId="{98FF2E30-5D64-A541-A549-5D00260DAD16}" srcOrd="1" destOrd="0" presId="urn:microsoft.com/office/officeart/2005/8/layout/hierarchy1"/>
    <dgm:cxn modelId="{108462BD-9D8E-444F-B533-EF209B42C048}" type="presParOf" srcId="{87A084AE-B18A-474E-B049-852CAE94ED12}" destId="{361D2B45-0174-F24A-9D50-375A26B33236}" srcOrd="1" destOrd="0" presId="urn:microsoft.com/office/officeart/2005/8/layout/hierarchy1"/>
    <dgm:cxn modelId="{CD41A956-F84B-6040-BCF8-D187B9B5B29E}" type="presParOf" srcId="{137EA273-E85E-A242-A22B-AA7D62BF2BCD}" destId="{0EE1E7C3-7CF7-4444-8679-B30531713795}" srcOrd="2" destOrd="0" presId="urn:microsoft.com/office/officeart/2005/8/layout/hierarchy1"/>
    <dgm:cxn modelId="{2846E505-86A9-314E-AD5F-5565A70629D3}" type="presParOf" srcId="{0EE1E7C3-7CF7-4444-8679-B30531713795}" destId="{1A1F3236-AD72-3B41-ADA2-8A2539945A02}" srcOrd="0" destOrd="0" presId="urn:microsoft.com/office/officeart/2005/8/layout/hierarchy1"/>
    <dgm:cxn modelId="{976A206B-B71F-B641-B962-4AB09FA10143}" type="presParOf" srcId="{1A1F3236-AD72-3B41-ADA2-8A2539945A02}" destId="{EAC07C42-12A2-884B-B1E4-3F6E34BC4A6E}" srcOrd="0" destOrd="0" presId="urn:microsoft.com/office/officeart/2005/8/layout/hierarchy1"/>
    <dgm:cxn modelId="{88991445-00B2-6848-8864-C1E082509737}" type="presParOf" srcId="{1A1F3236-AD72-3B41-ADA2-8A2539945A02}" destId="{49D969A2-C4C8-CA4A-93DB-20AE1370B999}" srcOrd="1" destOrd="0" presId="urn:microsoft.com/office/officeart/2005/8/layout/hierarchy1"/>
    <dgm:cxn modelId="{5378712F-A458-0240-8F54-F4CD03D86331}" type="presParOf" srcId="{0EE1E7C3-7CF7-4444-8679-B30531713795}" destId="{FC3BBF1D-8A11-024B-8E5C-A57D4ECA9A8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8D51CB-1790-451D-B29B-4233A5D25CD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C9CD622-8C0F-45E6-9207-06F5CDF92C94}">
      <dgm:prSet/>
      <dgm:spPr/>
      <dgm:t>
        <a:bodyPr/>
        <a:lstStyle/>
        <a:p>
          <a:pPr>
            <a:defRPr cap="all"/>
          </a:pPr>
          <a:r>
            <a:rPr lang="en-US"/>
            <a:t>Temporal demand patterns</a:t>
          </a:r>
        </a:p>
      </dgm:t>
    </dgm:pt>
    <dgm:pt modelId="{EE1B68DC-C73D-4298-8B5C-39988BE63B94}" type="parTrans" cxnId="{D92AF375-84C4-4E84-A401-E01227856B6D}">
      <dgm:prSet/>
      <dgm:spPr/>
      <dgm:t>
        <a:bodyPr/>
        <a:lstStyle/>
        <a:p>
          <a:endParaRPr lang="en-US"/>
        </a:p>
      </dgm:t>
    </dgm:pt>
    <dgm:pt modelId="{606FEC0C-0E2F-46F1-8679-CCEC1E201BCA}" type="sibTrans" cxnId="{D92AF375-84C4-4E84-A401-E01227856B6D}">
      <dgm:prSet/>
      <dgm:spPr/>
      <dgm:t>
        <a:bodyPr/>
        <a:lstStyle/>
        <a:p>
          <a:endParaRPr lang="en-US"/>
        </a:p>
      </dgm:t>
    </dgm:pt>
    <dgm:pt modelId="{09F7E995-3EF1-4B48-85AE-AE584D28E40F}">
      <dgm:prSet/>
      <dgm:spPr/>
      <dgm:t>
        <a:bodyPr/>
        <a:lstStyle/>
        <a:p>
          <a:pPr>
            <a:defRPr cap="all"/>
          </a:pPr>
          <a:r>
            <a:rPr lang="en-US"/>
            <a:t>Model accuracy comparisons</a:t>
          </a:r>
        </a:p>
      </dgm:t>
    </dgm:pt>
    <dgm:pt modelId="{AFD0C789-19ED-4551-814A-A0040D352662}" type="parTrans" cxnId="{ECEC0196-E841-4B88-BAF7-B1D4484CDB2B}">
      <dgm:prSet/>
      <dgm:spPr/>
      <dgm:t>
        <a:bodyPr/>
        <a:lstStyle/>
        <a:p>
          <a:endParaRPr lang="en-US"/>
        </a:p>
      </dgm:t>
    </dgm:pt>
    <dgm:pt modelId="{726E646A-F6F4-4014-BA5F-C8680CA9D3E2}" type="sibTrans" cxnId="{ECEC0196-E841-4B88-BAF7-B1D4484CDB2B}">
      <dgm:prSet/>
      <dgm:spPr/>
      <dgm:t>
        <a:bodyPr/>
        <a:lstStyle/>
        <a:p>
          <a:endParaRPr lang="en-US"/>
        </a:p>
      </dgm:t>
    </dgm:pt>
    <dgm:pt modelId="{4DD5CE25-171F-424D-842E-FE0DB6FD1D1C}">
      <dgm:prSet/>
      <dgm:spPr/>
      <dgm:t>
        <a:bodyPr/>
        <a:lstStyle/>
        <a:p>
          <a:pPr>
            <a:defRPr cap="all"/>
          </a:pPr>
          <a:r>
            <a:rPr lang="en-US"/>
            <a:t>Operational and pricing insights</a:t>
          </a:r>
        </a:p>
      </dgm:t>
    </dgm:pt>
    <dgm:pt modelId="{35BE359C-B859-4D77-987E-EB5664C7E4F2}" type="parTrans" cxnId="{D341AB59-8803-4393-AD5A-4BF4679FC419}">
      <dgm:prSet/>
      <dgm:spPr/>
      <dgm:t>
        <a:bodyPr/>
        <a:lstStyle/>
        <a:p>
          <a:endParaRPr lang="en-US"/>
        </a:p>
      </dgm:t>
    </dgm:pt>
    <dgm:pt modelId="{1C8A275C-DE0D-4AD6-81FA-C5723A4002B7}" type="sibTrans" cxnId="{D341AB59-8803-4393-AD5A-4BF4679FC419}">
      <dgm:prSet/>
      <dgm:spPr/>
      <dgm:t>
        <a:bodyPr/>
        <a:lstStyle/>
        <a:p>
          <a:endParaRPr lang="en-US"/>
        </a:p>
      </dgm:t>
    </dgm:pt>
    <dgm:pt modelId="{88E580FF-3F05-4EC2-B36D-0BEDA07CBBA8}" type="pres">
      <dgm:prSet presAssocID="{968D51CB-1790-451D-B29B-4233A5D25CD3}" presName="root" presStyleCnt="0">
        <dgm:presLayoutVars>
          <dgm:dir/>
          <dgm:resizeHandles val="exact"/>
        </dgm:presLayoutVars>
      </dgm:prSet>
      <dgm:spPr/>
    </dgm:pt>
    <dgm:pt modelId="{CA7C260D-431C-49CC-916B-815783070C79}" type="pres">
      <dgm:prSet presAssocID="{DC9CD622-8C0F-45E6-9207-06F5CDF92C94}" presName="compNode" presStyleCnt="0"/>
      <dgm:spPr/>
    </dgm:pt>
    <dgm:pt modelId="{1A49FEE1-1801-4722-A9C0-2E6D85CE89BA}" type="pres">
      <dgm:prSet presAssocID="{DC9CD622-8C0F-45E6-9207-06F5CDF92C94}" presName="iconBgRect" presStyleLbl="bgShp" presStyleIdx="0" presStyleCnt="3"/>
      <dgm:spPr/>
    </dgm:pt>
    <dgm:pt modelId="{CBE9509F-B843-4678-98B6-D5F1B887EC13}" type="pres">
      <dgm:prSet presAssocID="{DC9CD622-8C0F-45E6-9207-06F5CDF92C9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7A03FAA-B19F-4296-BFB3-4196CCF6AA56}" type="pres">
      <dgm:prSet presAssocID="{DC9CD622-8C0F-45E6-9207-06F5CDF92C94}" presName="spaceRect" presStyleCnt="0"/>
      <dgm:spPr/>
    </dgm:pt>
    <dgm:pt modelId="{9A4A3661-7022-4A0C-879F-3365283F4DFA}" type="pres">
      <dgm:prSet presAssocID="{DC9CD622-8C0F-45E6-9207-06F5CDF92C94}" presName="textRect" presStyleLbl="revTx" presStyleIdx="0" presStyleCnt="3">
        <dgm:presLayoutVars>
          <dgm:chMax val="1"/>
          <dgm:chPref val="1"/>
        </dgm:presLayoutVars>
      </dgm:prSet>
      <dgm:spPr/>
    </dgm:pt>
    <dgm:pt modelId="{665CC3F2-E5C5-4FF4-BE5F-E6762964553F}" type="pres">
      <dgm:prSet presAssocID="{606FEC0C-0E2F-46F1-8679-CCEC1E201BCA}" presName="sibTrans" presStyleCnt="0"/>
      <dgm:spPr/>
    </dgm:pt>
    <dgm:pt modelId="{35D5B066-5821-4229-A72D-26C9CD4C95E5}" type="pres">
      <dgm:prSet presAssocID="{09F7E995-3EF1-4B48-85AE-AE584D28E40F}" presName="compNode" presStyleCnt="0"/>
      <dgm:spPr/>
    </dgm:pt>
    <dgm:pt modelId="{79065B5C-08C4-4AB3-A271-F71C9616CA8C}" type="pres">
      <dgm:prSet presAssocID="{09F7E995-3EF1-4B48-85AE-AE584D28E40F}" presName="iconBgRect" presStyleLbl="bgShp" presStyleIdx="1" presStyleCnt="3"/>
      <dgm:spPr/>
    </dgm:pt>
    <dgm:pt modelId="{F4C26BFE-E702-4AAD-B716-5A990BDA51C1}" type="pres">
      <dgm:prSet presAssocID="{09F7E995-3EF1-4B48-85AE-AE584D28E40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D298366-5950-4D3A-A481-1ED8E9016E4F}" type="pres">
      <dgm:prSet presAssocID="{09F7E995-3EF1-4B48-85AE-AE584D28E40F}" presName="spaceRect" presStyleCnt="0"/>
      <dgm:spPr/>
    </dgm:pt>
    <dgm:pt modelId="{072AF0C4-6E57-429C-BD6B-5884919F33C9}" type="pres">
      <dgm:prSet presAssocID="{09F7E995-3EF1-4B48-85AE-AE584D28E40F}" presName="textRect" presStyleLbl="revTx" presStyleIdx="1" presStyleCnt="3">
        <dgm:presLayoutVars>
          <dgm:chMax val="1"/>
          <dgm:chPref val="1"/>
        </dgm:presLayoutVars>
      </dgm:prSet>
      <dgm:spPr/>
    </dgm:pt>
    <dgm:pt modelId="{3AC68438-B5F5-4482-840B-7BA20466247F}" type="pres">
      <dgm:prSet presAssocID="{726E646A-F6F4-4014-BA5F-C8680CA9D3E2}" presName="sibTrans" presStyleCnt="0"/>
      <dgm:spPr/>
    </dgm:pt>
    <dgm:pt modelId="{0F292980-E19D-44EC-BB8E-62F6EA81F44A}" type="pres">
      <dgm:prSet presAssocID="{4DD5CE25-171F-424D-842E-FE0DB6FD1D1C}" presName="compNode" presStyleCnt="0"/>
      <dgm:spPr/>
    </dgm:pt>
    <dgm:pt modelId="{3DCAE45F-5C22-4EAB-B41C-CC77AD045B2D}" type="pres">
      <dgm:prSet presAssocID="{4DD5CE25-171F-424D-842E-FE0DB6FD1D1C}" presName="iconBgRect" presStyleLbl="bgShp" presStyleIdx="2" presStyleCnt="3"/>
      <dgm:spPr/>
    </dgm:pt>
    <dgm:pt modelId="{414674F8-AF21-4C71-B2FC-558E8F0C2EB1}" type="pres">
      <dgm:prSet presAssocID="{4DD5CE25-171F-424D-842E-FE0DB6FD1D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60B53F2E-D293-4C12-8D7D-9ECF47D376E2}" type="pres">
      <dgm:prSet presAssocID="{4DD5CE25-171F-424D-842E-FE0DB6FD1D1C}" presName="spaceRect" presStyleCnt="0"/>
      <dgm:spPr/>
    </dgm:pt>
    <dgm:pt modelId="{60D96A34-6B45-4D07-9C61-AF02ABC74A16}" type="pres">
      <dgm:prSet presAssocID="{4DD5CE25-171F-424D-842E-FE0DB6FD1D1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7ADCA07-9640-4F0D-833F-7E56139DB796}" type="presOf" srcId="{09F7E995-3EF1-4B48-85AE-AE584D28E40F}" destId="{072AF0C4-6E57-429C-BD6B-5884919F33C9}" srcOrd="0" destOrd="0" presId="urn:microsoft.com/office/officeart/2018/5/layout/IconCircleLabelList"/>
    <dgm:cxn modelId="{4C10F357-35A6-4AA8-A28A-D874100E2372}" type="presOf" srcId="{4DD5CE25-171F-424D-842E-FE0DB6FD1D1C}" destId="{60D96A34-6B45-4D07-9C61-AF02ABC74A16}" srcOrd="0" destOrd="0" presId="urn:microsoft.com/office/officeart/2018/5/layout/IconCircleLabelList"/>
    <dgm:cxn modelId="{D341AB59-8803-4393-AD5A-4BF4679FC419}" srcId="{968D51CB-1790-451D-B29B-4233A5D25CD3}" destId="{4DD5CE25-171F-424D-842E-FE0DB6FD1D1C}" srcOrd="2" destOrd="0" parTransId="{35BE359C-B859-4D77-987E-EB5664C7E4F2}" sibTransId="{1C8A275C-DE0D-4AD6-81FA-C5723A4002B7}"/>
    <dgm:cxn modelId="{D92AF375-84C4-4E84-A401-E01227856B6D}" srcId="{968D51CB-1790-451D-B29B-4233A5D25CD3}" destId="{DC9CD622-8C0F-45E6-9207-06F5CDF92C94}" srcOrd="0" destOrd="0" parTransId="{EE1B68DC-C73D-4298-8B5C-39988BE63B94}" sibTransId="{606FEC0C-0E2F-46F1-8679-CCEC1E201BCA}"/>
    <dgm:cxn modelId="{BFA36693-6C13-4DF4-8D8F-BDBC96AF1492}" type="presOf" srcId="{968D51CB-1790-451D-B29B-4233A5D25CD3}" destId="{88E580FF-3F05-4EC2-B36D-0BEDA07CBBA8}" srcOrd="0" destOrd="0" presId="urn:microsoft.com/office/officeart/2018/5/layout/IconCircleLabelList"/>
    <dgm:cxn modelId="{ECEC0196-E841-4B88-BAF7-B1D4484CDB2B}" srcId="{968D51CB-1790-451D-B29B-4233A5D25CD3}" destId="{09F7E995-3EF1-4B48-85AE-AE584D28E40F}" srcOrd="1" destOrd="0" parTransId="{AFD0C789-19ED-4551-814A-A0040D352662}" sibTransId="{726E646A-F6F4-4014-BA5F-C8680CA9D3E2}"/>
    <dgm:cxn modelId="{C0F862A4-D8AC-4547-B12C-B6985E4A5F08}" type="presOf" srcId="{DC9CD622-8C0F-45E6-9207-06F5CDF92C94}" destId="{9A4A3661-7022-4A0C-879F-3365283F4DFA}" srcOrd="0" destOrd="0" presId="urn:microsoft.com/office/officeart/2018/5/layout/IconCircleLabelList"/>
    <dgm:cxn modelId="{D96741EC-55D9-402A-8B75-C67C98E639B2}" type="presParOf" srcId="{88E580FF-3F05-4EC2-B36D-0BEDA07CBBA8}" destId="{CA7C260D-431C-49CC-916B-815783070C79}" srcOrd="0" destOrd="0" presId="urn:microsoft.com/office/officeart/2018/5/layout/IconCircleLabelList"/>
    <dgm:cxn modelId="{FE75126B-1331-4507-8143-32A39C860C55}" type="presParOf" srcId="{CA7C260D-431C-49CC-916B-815783070C79}" destId="{1A49FEE1-1801-4722-A9C0-2E6D85CE89BA}" srcOrd="0" destOrd="0" presId="urn:microsoft.com/office/officeart/2018/5/layout/IconCircleLabelList"/>
    <dgm:cxn modelId="{929D6AC7-D5B2-43C4-AAEF-A11FE9609E2C}" type="presParOf" srcId="{CA7C260D-431C-49CC-916B-815783070C79}" destId="{CBE9509F-B843-4678-98B6-D5F1B887EC13}" srcOrd="1" destOrd="0" presId="urn:microsoft.com/office/officeart/2018/5/layout/IconCircleLabelList"/>
    <dgm:cxn modelId="{94540315-F11D-41E2-B040-75A308B49D7E}" type="presParOf" srcId="{CA7C260D-431C-49CC-916B-815783070C79}" destId="{57A03FAA-B19F-4296-BFB3-4196CCF6AA56}" srcOrd="2" destOrd="0" presId="urn:microsoft.com/office/officeart/2018/5/layout/IconCircleLabelList"/>
    <dgm:cxn modelId="{D463D36A-21A4-4CBA-9748-7F7082B558F4}" type="presParOf" srcId="{CA7C260D-431C-49CC-916B-815783070C79}" destId="{9A4A3661-7022-4A0C-879F-3365283F4DFA}" srcOrd="3" destOrd="0" presId="urn:microsoft.com/office/officeart/2018/5/layout/IconCircleLabelList"/>
    <dgm:cxn modelId="{19C08323-9165-429D-BAF2-A83700A9A598}" type="presParOf" srcId="{88E580FF-3F05-4EC2-B36D-0BEDA07CBBA8}" destId="{665CC3F2-E5C5-4FF4-BE5F-E6762964553F}" srcOrd="1" destOrd="0" presId="urn:microsoft.com/office/officeart/2018/5/layout/IconCircleLabelList"/>
    <dgm:cxn modelId="{905F9857-763E-4F70-AF4F-AB94B6463600}" type="presParOf" srcId="{88E580FF-3F05-4EC2-B36D-0BEDA07CBBA8}" destId="{35D5B066-5821-4229-A72D-26C9CD4C95E5}" srcOrd="2" destOrd="0" presId="urn:microsoft.com/office/officeart/2018/5/layout/IconCircleLabelList"/>
    <dgm:cxn modelId="{0C035735-E1A1-4758-8356-9AEA046EF0C2}" type="presParOf" srcId="{35D5B066-5821-4229-A72D-26C9CD4C95E5}" destId="{79065B5C-08C4-4AB3-A271-F71C9616CA8C}" srcOrd="0" destOrd="0" presId="urn:microsoft.com/office/officeart/2018/5/layout/IconCircleLabelList"/>
    <dgm:cxn modelId="{F3E6B413-016C-44D9-9349-D1D7A331D25C}" type="presParOf" srcId="{35D5B066-5821-4229-A72D-26C9CD4C95E5}" destId="{F4C26BFE-E702-4AAD-B716-5A990BDA51C1}" srcOrd="1" destOrd="0" presId="urn:microsoft.com/office/officeart/2018/5/layout/IconCircleLabelList"/>
    <dgm:cxn modelId="{BD694D5A-212C-4448-B542-7360BCD30463}" type="presParOf" srcId="{35D5B066-5821-4229-A72D-26C9CD4C95E5}" destId="{8D298366-5950-4D3A-A481-1ED8E9016E4F}" srcOrd="2" destOrd="0" presId="urn:microsoft.com/office/officeart/2018/5/layout/IconCircleLabelList"/>
    <dgm:cxn modelId="{26B68DFF-DEC0-4E1D-A60D-B40E09AEE001}" type="presParOf" srcId="{35D5B066-5821-4229-A72D-26C9CD4C95E5}" destId="{072AF0C4-6E57-429C-BD6B-5884919F33C9}" srcOrd="3" destOrd="0" presId="urn:microsoft.com/office/officeart/2018/5/layout/IconCircleLabelList"/>
    <dgm:cxn modelId="{1BC5C2AD-2970-4FD0-BD32-C5C46DF155B4}" type="presParOf" srcId="{88E580FF-3F05-4EC2-B36D-0BEDA07CBBA8}" destId="{3AC68438-B5F5-4482-840B-7BA20466247F}" srcOrd="3" destOrd="0" presId="urn:microsoft.com/office/officeart/2018/5/layout/IconCircleLabelList"/>
    <dgm:cxn modelId="{7244AA47-95CA-4E70-9C3B-9416F11603AC}" type="presParOf" srcId="{88E580FF-3F05-4EC2-B36D-0BEDA07CBBA8}" destId="{0F292980-E19D-44EC-BB8E-62F6EA81F44A}" srcOrd="4" destOrd="0" presId="urn:microsoft.com/office/officeart/2018/5/layout/IconCircleLabelList"/>
    <dgm:cxn modelId="{ACBE7D23-2052-4C03-BA7A-AD6BE6BD95AB}" type="presParOf" srcId="{0F292980-E19D-44EC-BB8E-62F6EA81F44A}" destId="{3DCAE45F-5C22-4EAB-B41C-CC77AD045B2D}" srcOrd="0" destOrd="0" presId="urn:microsoft.com/office/officeart/2018/5/layout/IconCircleLabelList"/>
    <dgm:cxn modelId="{82329509-0298-4DE2-BF6C-8CAB4FBA9FA7}" type="presParOf" srcId="{0F292980-E19D-44EC-BB8E-62F6EA81F44A}" destId="{414674F8-AF21-4C71-B2FC-558E8F0C2EB1}" srcOrd="1" destOrd="0" presId="urn:microsoft.com/office/officeart/2018/5/layout/IconCircleLabelList"/>
    <dgm:cxn modelId="{DBC5C148-90E4-46AB-86B8-79CEFB2012A6}" type="presParOf" srcId="{0F292980-E19D-44EC-BB8E-62F6EA81F44A}" destId="{60B53F2E-D293-4C12-8D7D-9ECF47D376E2}" srcOrd="2" destOrd="0" presId="urn:microsoft.com/office/officeart/2018/5/layout/IconCircleLabelList"/>
    <dgm:cxn modelId="{A405BC81-54F1-4748-ADC1-B7F15FEDE5CF}" type="presParOf" srcId="{0F292980-E19D-44EC-BB8E-62F6EA81F44A}" destId="{60D96A34-6B45-4D07-9C61-AF02ABC74A1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6B73C9-3D3C-4FDE-815F-3AFB033AC41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8E5C8E-83E4-41C8-BB8F-502958080559}">
      <dgm:prSet/>
      <dgm:spPr/>
      <dgm:t>
        <a:bodyPr/>
        <a:lstStyle/>
        <a:p>
          <a:r>
            <a:rPr lang="en-US"/>
            <a:t>Integrated ML pipeline improved accuracy and decision linkage</a:t>
          </a:r>
        </a:p>
      </dgm:t>
    </dgm:pt>
    <dgm:pt modelId="{D96BFCE9-C260-44F4-929B-4CB438774225}" type="parTrans" cxnId="{F0DD8B9E-F9B9-484B-B2EE-49AC02C076DF}">
      <dgm:prSet/>
      <dgm:spPr/>
      <dgm:t>
        <a:bodyPr/>
        <a:lstStyle/>
        <a:p>
          <a:endParaRPr lang="en-US"/>
        </a:p>
      </dgm:t>
    </dgm:pt>
    <dgm:pt modelId="{C9CB6826-A000-4F67-9769-8CD0E56DAC3C}" type="sibTrans" cxnId="{F0DD8B9E-F9B9-484B-B2EE-49AC02C076DF}">
      <dgm:prSet/>
      <dgm:spPr/>
      <dgm:t>
        <a:bodyPr/>
        <a:lstStyle/>
        <a:p>
          <a:endParaRPr lang="en-US"/>
        </a:p>
      </dgm:t>
    </dgm:pt>
    <dgm:pt modelId="{40C931A2-3DAD-4C92-B59D-6B4CCA57A279}">
      <dgm:prSet/>
      <dgm:spPr/>
      <dgm:t>
        <a:bodyPr/>
        <a:lstStyle/>
        <a:p>
          <a:r>
            <a:rPr lang="en-US"/>
            <a:t>Context matters for transferability</a:t>
          </a:r>
        </a:p>
      </dgm:t>
    </dgm:pt>
    <dgm:pt modelId="{61822777-027E-453B-A185-2FD374ACAB00}" type="parTrans" cxnId="{AE93449E-830D-40C1-B614-D4F8B7E46846}">
      <dgm:prSet/>
      <dgm:spPr/>
      <dgm:t>
        <a:bodyPr/>
        <a:lstStyle/>
        <a:p>
          <a:endParaRPr lang="en-US"/>
        </a:p>
      </dgm:t>
    </dgm:pt>
    <dgm:pt modelId="{7704BEE0-13C2-41FD-8CC3-88E9064A5C14}" type="sibTrans" cxnId="{AE93449E-830D-40C1-B614-D4F8B7E46846}">
      <dgm:prSet/>
      <dgm:spPr/>
      <dgm:t>
        <a:bodyPr/>
        <a:lstStyle/>
        <a:p>
          <a:endParaRPr lang="en-US"/>
        </a:p>
      </dgm:t>
    </dgm:pt>
    <dgm:pt modelId="{0FC4931B-AAF1-425A-A40E-48022CEA6EBA}">
      <dgm:prSet/>
      <dgm:spPr/>
      <dgm:t>
        <a:bodyPr/>
        <a:lstStyle/>
        <a:p>
          <a:r>
            <a:rPr lang="en-US"/>
            <a:t>Balance between accuracy and transparency</a:t>
          </a:r>
        </a:p>
      </dgm:t>
    </dgm:pt>
    <dgm:pt modelId="{462252D4-F918-4431-81F1-FBB720D3E677}" type="parTrans" cxnId="{2783CB52-31D3-4DE7-A195-F7AAB11B89D8}">
      <dgm:prSet/>
      <dgm:spPr/>
      <dgm:t>
        <a:bodyPr/>
        <a:lstStyle/>
        <a:p>
          <a:endParaRPr lang="en-US"/>
        </a:p>
      </dgm:t>
    </dgm:pt>
    <dgm:pt modelId="{FB4EC99E-8E43-489C-B173-2379F0EB1A65}" type="sibTrans" cxnId="{2783CB52-31D3-4DE7-A195-F7AAB11B89D8}">
      <dgm:prSet/>
      <dgm:spPr/>
      <dgm:t>
        <a:bodyPr/>
        <a:lstStyle/>
        <a:p>
          <a:endParaRPr lang="en-US"/>
        </a:p>
      </dgm:t>
    </dgm:pt>
    <dgm:pt modelId="{78B28BE3-BA1D-DC41-9079-BB254D54280C}" type="pres">
      <dgm:prSet presAssocID="{ED6B73C9-3D3C-4FDE-815F-3AFB033AC41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547904E-E99F-5340-A4B6-20E8C606E5CC}" type="pres">
      <dgm:prSet presAssocID="{E58E5C8E-83E4-41C8-BB8F-502958080559}" presName="hierRoot1" presStyleCnt="0"/>
      <dgm:spPr/>
    </dgm:pt>
    <dgm:pt modelId="{6D199203-C949-A243-B35E-7D200E36E4CA}" type="pres">
      <dgm:prSet presAssocID="{E58E5C8E-83E4-41C8-BB8F-502958080559}" presName="composite" presStyleCnt="0"/>
      <dgm:spPr/>
    </dgm:pt>
    <dgm:pt modelId="{92873870-1100-B143-915A-82CF9C56AC60}" type="pres">
      <dgm:prSet presAssocID="{E58E5C8E-83E4-41C8-BB8F-502958080559}" presName="background" presStyleLbl="node0" presStyleIdx="0" presStyleCnt="3"/>
      <dgm:spPr/>
    </dgm:pt>
    <dgm:pt modelId="{96D6CE23-F8D4-DF40-870F-0626ADEE7C03}" type="pres">
      <dgm:prSet presAssocID="{E58E5C8E-83E4-41C8-BB8F-502958080559}" presName="text" presStyleLbl="fgAcc0" presStyleIdx="0" presStyleCnt="3">
        <dgm:presLayoutVars>
          <dgm:chPref val="3"/>
        </dgm:presLayoutVars>
      </dgm:prSet>
      <dgm:spPr/>
    </dgm:pt>
    <dgm:pt modelId="{4332466A-0914-4E4B-B7E5-59E6E2E9BF16}" type="pres">
      <dgm:prSet presAssocID="{E58E5C8E-83E4-41C8-BB8F-502958080559}" presName="hierChild2" presStyleCnt="0"/>
      <dgm:spPr/>
    </dgm:pt>
    <dgm:pt modelId="{7DCA2311-8CC4-0D4C-949E-FC7C3EFE69CC}" type="pres">
      <dgm:prSet presAssocID="{40C931A2-3DAD-4C92-B59D-6B4CCA57A279}" presName="hierRoot1" presStyleCnt="0"/>
      <dgm:spPr/>
    </dgm:pt>
    <dgm:pt modelId="{56830D70-FAF3-1E43-89A7-95C9FCE39923}" type="pres">
      <dgm:prSet presAssocID="{40C931A2-3DAD-4C92-B59D-6B4CCA57A279}" presName="composite" presStyleCnt="0"/>
      <dgm:spPr/>
    </dgm:pt>
    <dgm:pt modelId="{260419FD-989D-534A-9218-9D22C6C4BE07}" type="pres">
      <dgm:prSet presAssocID="{40C931A2-3DAD-4C92-B59D-6B4CCA57A279}" presName="background" presStyleLbl="node0" presStyleIdx="1" presStyleCnt="3"/>
      <dgm:spPr/>
    </dgm:pt>
    <dgm:pt modelId="{8E53BCCE-E545-AA4F-BD55-39D3A5123346}" type="pres">
      <dgm:prSet presAssocID="{40C931A2-3DAD-4C92-B59D-6B4CCA57A279}" presName="text" presStyleLbl="fgAcc0" presStyleIdx="1" presStyleCnt="3">
        <dgm:presLayoutVars>
          <dgm:chPref val="3"/>
        </dgm:presLayoutVars>
      </dgm:prSet>
      <dgm:spPr/>
    </dgm:pt>
    <dgm:pt modelId="{8CC3F0E4-29BA-A14F-A57E-C3C9FE9E06B7}" type="pres">
      <dgm:prSet presAssocID="{40C931A2-3DAD-4C92-B59D-6B4CCA57A279}" presName="hierChild2" presStyleCnt="0"/>
      <dgm:spPr/>
    </dgm:pt>
    <dgm:pt modelId="{013099EA-431D-C440-BE06-AA2870E958A4}" type="pres">
      <dgm:prSet presAssocID="{0FC4931B-AAF1-425A-A40E-48022CEA6EBA}" presName="hierRoot1" presStyleCnt="0"/>
      <dgm:spPr/>
    </dgm:pt>
    <dgm:pt modelId="{7D38C1F3-DD72-B84F-B8B7-B94692C86C9B}" type="pres">
      <dgm:prSet presAssocID="{0FC4931B-AAF1-425A-A40E-48022CEA6EBA}" presName="composite" presStyleCnt="0"/>
      <dgm:spPr/>
    </dgm:pt>
    <dgm:pt modelId="{359731BD-1E4D-D747-B4BE-4D589125AFB1}" type="pres">
      <dgm:prSet presAssocID="{0FC4931B-AAF1-425A-A40E-48022CEA6EBA}" presName="background" presStyleLbl="node0" presStyleIdx="2" presStyleCnt="3"/>
      <dgm:spPr/>
    </dgm:pt>
    <dgm:pt modelId="{B2C97E41-64C8-D242-A2BD-D6F21A391E67}" type="pres">
      <dgm:prSet presAssocID="{0FC4931B-AAF1-425A-A40E-48022CEA6EBA}" presName="text" presStyleLbl="fgAcc0" presStyleIdx="2" presStyleCnt="3">
        <dgm:presLayoutVars>
          <dgm:chPref val="3"/>
        </dgm:presLayoutVars>
      </dgm:prSet>
      <dgm:spPr/>
    </dgm:pt>
    <dgm:pt modelId="{66FED887-E6B8-1B4C-8092-0C65790977BD}" type="pres">
      <dgm:prSet presAssocID="{0FC4931B-AAF1-425A-A40E-48022CEA6EBA}" presName="hierChild2" presStyleCnt="0"/>
      <dgm:spPr/>
    </dgm:pt>
  </dgm:ptLst>
  <dgm:cxnLst>
    <dgm:cxn modelId="{D79E281E-D3BA-224C-9E26-78395CA5B66C}" type="presOf" srcId="{ED6B73C9-3D3C-4FDE-815F-3AFB033AC41E}" destId="{78B28BE3-BA1D-DC41-9079-BB254D54280C}" srcOrd="0" destOrd="0" presId="urn:microsoft.com/office/officeart/2005/8/layout/hierarchy1"/>
    <dgm:cxn modelId="{2783CB52-31D3-4DE7-A195-F7AAB11B89D8}" srcId="{ED6B73C9-3D3C-4FDE-815F-3AFB033AC41E}" destId="{0FC4931B-AAF1-425A-A40E-48022CEA6EBA}" srcOrd="2" destOrd="0" parTransId="{462252D4-F918-4431-81F1-FBB720D3E677}" sibTransId="{FB4EC99E-8E43-489C-B173-2379F0EB1A65}"/>
    <dgm:cxn modelId="{DD2B3055-5772-B147-B81B-36D811BFA7CA}" type="presOf" srcId="{0FC4931B-AAF1-425A-A40E-48022CEA6EBA}" destId="{B2C97E41-64C8-D242-A2BD-D6F21A391E67}" srcOrd="0" destOrd="0" presId="urn:microsoft.com/office/officeart/2005/8/layout/hierarchy1"/>
    <dgm:cxn modelId="{D887BB98-003E-CD48-B27E-83026561639B}" type="presOf" srcId="{40C931A2-3DAD-4C92-B59D-6B4CCA57A279}" destId="{8E53BCCE-E545-AA4F-BD55-39D3A5123346}" srcOrd="0" destOrd="0" presId="urn:microsoft.com/office/officeart/2005/8/layout/hierarchy1"/>
    <dgm:cxn modelId="{AE93449E-830D-40C1-B614-D4F8B7E46846}" srcId="{ED6B73C9-3D3C-4FDE-815F-3AFB033AC41E}" destId="{40C931A2-3DAD-4C92-B59D-6B4CCA57A279}" srcOrd="1" destOrd="0" parTransId="{61822777-027E-453B-A185-2FD374ACAB00}" sibTransId="{7704BEE0-13C2-41FD-8CC3-88E9064A5C14}"/>
    <dgm:cxn modelId="{F0DD8B9E-F9B9-484B-B2EE-49AC02C076DF}" srcId="{ED6B73C9-3D3C-4FDE-815F-3AFB033AC41E}" destId="{E58E5C8E-83E4-41C8-BB8F-502958080559}" srcOrd="0" destOrd="0" parTransId="{D96BFCE9-C260-44F4-929B-4CB438774225}" sibTransId="{C9CB6826-A000-4F67-9769-8CD0E56DAC3C}"/>
    <dgm:cxn modelId="{7A12EAD7-97CF-9D46-87F6-6B972D2C0AEA}" type="presOf" srcId="{E58E5C8E-83E4-41C8-BB8F-502958080559}" destId="{96D6CE23-F8D4-DF40-870F-0626ADEE7C03}" srcOrd="0" destOrd="0" presId="urn:microsoft.com/office/officeart/2005/8/layout/hierarchy1"/>
    <dgm:cxn modelId="{63D436E0-34F1-414F-B746-E871C42F7817}" type="presParOf" srcId="{78B28BE3-BA1D-DC41-9079-BB254D54280C}" destId="{8547904E-E99F-5340-A4B6-20E8C606E5CC}" srcOrd="0" destOrd="0" presId="urn:microsoft.com/office/officeart/2005/8/layout/hierarchy1"/>
    <dgm:cxn modelId="{02DAF531-5463-4045-AB6A-941C4E32A913}" type="presParOf" srcId="{8547904E-E99F-5340-A4B6-20E8C606E5CC}" destId="{6D199203-C949-A243-B35E-7D200E36E4CA}" srcOrd="0" destOrd="0" presId="urn:microsoft.com/office/officeart/2005/8/layout/hierarchy1"/>
    <dgm:cxn modelId="{4C810FD6-09F2-7E4A-830F-2179CF7132FE}" type="presParOf" srcId="{6D199203-C949-A243-B35E-7D200E36E4CA}" destId="{92873870-1100-B143-915A-82CF9C56AC60}" srcOrd="0" destOrd="0" presId="urn:microsoft.com/office/officeart/2005/8/layout/hierarchy1"/>
    <dgm:cxn modelId="{D25EDDBA-511F-9C46-AFC4-DCB3D12FC86B}" type="presParOf" srcId="{6D199203-C949-A243-B35E-7D200E36E4CA}" destId="{96D6CE23-F8D4-DF40-870F-0626ADEE7C03}" srcOrd="1" destOrd="0" presId="urn:microsoft.com/office/officeart/2005/8/layout/hierarchy1"/>
    <dgm:cxn modelId="{D3691474-7B5B-654D-B72A-3C430A61A01D}" type="presParOf" srcId="{8547904E-E99F-5340-A4B6-20E8C606E5CC}" destId="{4332466A-0914-4E4B-B7E5-59E6E2E9BF16}" srcOrd="1" destOrd="0" presId="urn:microsoft.com/office/officeart/2005/8/layout/hierarchy1"/>
    <dgm:cxn modelId="{679D13C0-6640-7741-8862-FC4335216F7D}" type="presParOf" srcId="{78B28BE3-BA1D-DC41-9079-BB254D54280C}" destId="{7DCA2311-8CC4-0D4C-949E-FC7C3EFE69CC}" srcOrd="1" destOrd="0" presId="urn:microsoft.com/office/officeart/2005/8/layout/hierarchy1"/>
    <dgm:cxn modelId="{3892D68D-734B-0C46-9974-D2DB901ED76B}" type="presParOf" srcId="{7DCA2311-8CC4-0D4C-949E-FC7C3EFE69CC}" destId="{56830D70-FAF3-1E43-89A7-95C9FCE39923}" srcOrd="0" destOrd="0" presId="urn:microsoft.com/office/officeart/2005/8/layout/hierarchy1"/>
    <dgm:cxn modelId="{2D0AC4A0-49A9-364F-A437-313BAD63A5F7}" type="presParOf" srcId="{56830D70-FAF3-1E43-89A7-95C9FCE39923}" destId="{260419FD-989D-534A-9218-9D22C6C4BE07}" srcOrd="0" destOrd="0" presId="urn:microsoft.com/office/officeart/2005/8/layout/hierarchy1"/>
    <dgm:cxn modelId="{2EF80EB6-A4E2-7849-8231-F71BB215CD0A}" type="presParOf" srcId="{56830D70-FAF3-1E43-89A7-95C9FCE39923}" destId="{8E53BCCE-E545-AA4F-BD55-39D3A5123346}" srcOrd="1" destOrd="0" presId="urn:microsoft.com/office/officeart/2005/8/layout/hierarchy1"/>
    <dgm:cxn modelId="{475A9840-6B87-A644-BDA4-334FD37F036E}" type="presParOf" srcId="{7DCA2311-8CC4-0D4C-949E-FC7C3EFE69CC}" destId="{8CC3F0E4-29BA-A14F-A57E-C3C9FE9E06B7}" srcOrd="1" destOrd="0" presId="urn:microsoft.com/office/officeart/2005/8/layout/hierarchy1"/>
    <dgm:cxn modelId="{AE65658E-638A-7943-A747-5D6F5994F35A}" type="presParOf" srcId="{78B28BE3-BA1D-DC41-9079-BB254D54280C}" destId="{013099EA-431D-C440-BE06-AA2870E958A4}" srcOrd="2" destOrd="0" presId="urn:microsoft.com/office/officeart/2005/8/layout/hierarchy1"/>
    <dgm:cxn modelId="{90F653E6-9E18-5346-A934-E9BF452DEA24}" type="presParOf" srcId="{013099EA-431D-C440-BE06-AA2870E958A4}" destId="{7D38C1F3-DD72-B84F-B8B7-B94692C86C9B}" srcOrd="0" destOrd="0" presId="urn:microsoft.com/office/officeart/2005/8/layout/hierarchy1"/>
    <dgm:cxn modelId="{2809E0C0-AA74-8649-B984-0F7680997398}" type="presParOf" srcId="{7D38C1F3-DD72-B84F-B8B7-B94692C86C9B}" destId="{359731BD-1E4D-D747-B4BE-4D589125AFB1}" srcOrd="0" destOrd="0" presId="urn:microsoft.com/office/officeart/2005/8/layout/hierarchy1"/>
    <dgm:cxn modelId="{C9A583EC-2B66-0748-A0C0-CA4DA2693E9E}" type="presParOf" srcId="{7D38C1F3-DD72-B84F-B8B7-B94692C86C9B}" destId="{B2C97E41-64C8-D242-A2BD-D6F21A391E67}" srcOrd="1" destOrd="0" presId="urn:microsoft.com/office/officeart/2005/8/layout/hierarchy1"/>
    <dgm:cxn modelId="{37482C2A-4EC9-0341-B91D-C4F45501F949}" type="presParOf" srcId="{013099EA-431D-C440-BE06-AA2870E958A4}" destId="{66FED887-E6B8-1B4C-8092-0C65790977B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EE3C48-8FDF-496E-964C-4F213DA2E6C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6421256-CBD2-4357-9A02-3409B0719A17}">
      <dgm:prSet/>
      <dgm:spPr/>
      <dgm:t>
        <a:bodyPr/>
        <a:lstStyle/>
        <a:p>
          <a:r>
            <a:rPr lang="en-US"/>
            <a:t>Regional generalization and transfer learning</a:t>
          </a:r>
        </a:p>
      </dgm:t>
    </dgm:pt>
    <dgm:pt modelId="{A0EFF7A6-0488-42F0-B7C5-D9D4A1571C56}" type="parTrans" cxnId="{242E35A3-8736-4540-B1EC-7B633ADE8E2E}">
      <dgm:prSet/>
      <dgm:spPr/>
      <dgm:t>
        <a:bodyPr/>
        <a:lstStyle/>
        <a:p>
          <a:endParaRPr lang="en-US"/>
        </a:p>
      </dgm:t>
    </dgm:pt>
    <dgm:pt modelId="{F69E7728-3989-4BCF-9AD3-D994B5B1CE95}" type="sibTrans" cxnId="{242E35A3-8736-4540-B1EC-7B633ADE8E2E}">
      <dgm:prSet/>
      <dgm:spPr/>
      <dgm:t>
        <a:bodyPr/>
        <a:lstStyle/>
        <a:p>
          <a:endParaRPr lang="en-US"/>
        </a:p>
      </dgm:t>
    </dgm:pt>
    <dgm:pt modelId="{7DCA5903-DE22-4EDE-98F7-12BB6A55B23D}">
      <dgm:prSet/>
      <dgm:spPr/>
      <dgm:t>
        <a:bodyPr/>
        <a:lstStyle/>
        <a:p>
          <a:r>
            <a:rPr lang="en-US"/>
            <a:t>Real-time closed-loop optimization</a:t>
          </a:r>
        </a:p>
      </dgm:t>
    </dgm:pt>
    <dgm:pt modelId="{B89B1A85-27FE-445E-8998-908DF4871EF6}" type="parTrans" cxnId="{C487867E-9ED4-4564-AEC5-9D12A98D663D}">
      <dgm:prSet/>
      <dgm:spPr/>
      <dgm:t>
        <a:bodyPr/>
        <a:lstStyle/>
        <a:p>
          <a:endParaRPr lang="en-US"/>
        </a:p>
      </dgm:t>
    </dgm:pt>
    <dgm:pt modelId="{2BB1DACD-2EF9-4814-96E2-273A25A782B1}" type="sibTrans" cxnId="{C487867E-9ED4-4564-AEC5-9D12A98D663D}">
      <dgm:prSet/>
      <dgm:spPr/>
      <dgm:t>
        <a:bodyPr/>
        <a:lstStyle/>
        <a:p>
          <a:endParaRPr lang="en-US"/>
        </a:p>
      </dgm:t>
    </dgm:pt>
    <dgm:pt modelId="{55AD0A1F-3DA1-4A6F-A5AC-7C1765F39D99}">
      <dgm:prSet/>
      <dgm:spPr/>
      <dgm:t>
        <a:bodyPr/>
        <a:lstStyle/>
        <a:p>
          <a:r>
            <a:rPr lang="en-US"/>
            <a:t>Fairness audits and explainable interfaces</a:t>
          </a:r>
        </a:p>
      </dgm:t>
    </dgm:pt>
    <dgm:pt modelId="{349CD8D6-CDED-4687-B962-2827C9D7E210}" type="parTrans" cxnId="{67EB2375-584F-43FE-85C5-228AE611A881}">
      <dgm:prSet/>
      <dgm:spPr/>
      <dgm:t>
        <a:bodyPr/>
        <a:lstStyle/>
        <a:p>
          <a:endParaRPr lang="en-US"/>
        </a:p>
      </dgm:t>
    </dgm:pt>
    <dgm:pt modelId="{B14D047F-72B0-4443-BD47-EE1B243EC096}" type="sibTrans" cxnId="{67EB2375-584F-43FE-85C5-228AE611A881}">
      <dgm:prSet/>
      <dgm:spPr/>
      <dgm:t>
        <a:bodyPr/>
        <a:lstStyle/>
        <a:p>
          <a:endParaRPr lang="en-US"/>
        </a:p>
      </dgm:t>
    </dgm:pt>
    <dgm:pt modelId="{1EA71CC3-FF98-8844-A8FC-95108FA036B9}" type="pres">
      <dgm:prSet presAssocID="{E6EE3C48-8FDF-496E-964C-4F213DA2E6C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DD7C7E3-0B87-DE4A-8EE5-5EA635B0340C}" type="pres">
      <dgm:prSet presAssocID="{36421256-CBD2-4357-9A02-3409B0719A17}" presName="hierRoot1" presStyleCnt="0"/>
      <dgm:spPr/>
    </dgm:pt>
    <dgm:pt modelId="{66CF8254-2188-244B-9903-B419EC11C1CD}" type="pres">
      <dgm:prSet presAssocID="{36421256-CBD2-4357-9A02-3409B0719A17}" presName="composite" presStyleCnt="0"/>
      <dgm:spPr/>
    </dgm:pt>
    <dgm:pt modelId="{7C8C9A53-3EBE-5E4F-B980-82A4135D8320}" type="pres">
      <dgm:prSet presAssocID="{36421256-CBD2-4357-9A02-3409B0719A17}" presName="background" presStyleLbl="node0" presStyleIdx="0" presStyleCnt="3"/>
      <dgm:spPr/>
    </dgm:pt>
    <dgm:pt modelId="{9CB16E0F-2D96-A848-AF32-09119254CD56}" type="pres">
      <dgm:prSet presAssocID="{36421256-CBD2-4357-9A02-3409B0719A17}" presName="text" presStyleLbl="fgAcc0" presStyleIdx="0" presStyleCnt="3">
        <dgm:presLayoutVars>
          <dgm:chPref val="3"/>
        </dgm:presLayoutVars>
      </dgm:prSet>
      <dgm:spPr/>
    </dgm:pt>
    <dgm:pt modelId="{B3EBC725-BB8A-4548-90C3-78BA5C95243C}" type="pres">
      <dgm:prSet presAssocID="{36421256-CBD2-4357-9A02-3409B0719A17}" presName="hierChild2" presStyleCnt="0"/>
      <dgm:spPr/>
    </dgm:pt>
    <dgm:pt modelId="{5CAA27D1-05EA-434C-B90F-647EB50C63E7}" type="pres">
      <dgm:prSet presAssocID="{7DCA5903-DE22-4EDE-98F7-12BB6A55B23D}" presName="hierRoot1" presStyleCnt="0"/>
      <dgm:spPr/>
    </dgm:pt>
    <dgm:pt modelId="{3072FC37-A9A9-2C42-96D7-2A973DE2EE8C}" type="pres">
      <dgm:prSet presAssocID="{7DCA5903-DE22-4EDE-98F7-12BB6A55B23D}" presName="composite" presStyleCnt="0"/>
      <dgm:spPr/>
    </dgm:pt>
    <dgm:pt modelId="{491C79FC-C589-C849-99EA-9CBDF4B38897}" type="pres">
      <dgm:prSet presAssocID="{7DCA5903-DE22-4EDE-98F7-12BB6A55B23D}" presName="background" presStyleLbl="node0" presStyleIdx="1" presStyleCnt="3"/>
      <dgm:spPr/>
    </dgm:pt>
    <dgm:pt modelId="{9CCBA61E-596A-364C-9A90-7DFB43FD4C22}" type="pres">
      <dgm:prSet presAssocID="{7DCA5903-DE22-4EDE-98F7-12BB6A55B23D}" presName="text" presStyleLbl="fgAcc0" presStyleIdx="1" presStyleCnt="3">
        <dgm:presLayoutVars>
          <dgm:chPref val="3"/>
        </dgm:presLayoutVars>
      </dgm:prSet>
      <dgm:spPr/>
    </dgm:pt>
    <dgm:pt modelId="{4011EA71-C492-C743-B827-A3D563DB6AEC}" type="pres">
      <dgm:prSet presAssocID="{7DCA5903-DE22-4EDE-98F7-12BB6A55B23D}" presName="hierChild2" presStyleCnt="0"/>
      <dgm:spPr/>
    </dgm:pt>
    <dgm:pt modelId="{4A61AE78-BD4B-AD42-B372-838338F7841D}" type="pres">
      <dgm:prSet presAssocID="{55AD0A1F-3DA1-4A6F-A5AC-7C1765F39D99}" presName="hierRoot1" presStyleCnt="0"/>
      <dgm:spPr/>
    </dgm:pt>
    <dgm:pt modelId="{B180962C-4170-A04D-B55F-7323F84C4043}" type="pres">
      <dgm:prSet presAssocID="{55AD0A1F-3DA1-4A6F-A5AC-7C1765F39D99}" presName="composite" presStyleCnt="0"/>
      <dgm:spPr/>
    </dgm:pt>
    <dgm:pt modelId="{2DA4F10D-4181-294F-A755-D64E51E48540}" type="pres">
      <dgm:prSet presAssocID="{55AD0A1F-3DA1-4A6F-A5AC-7C1765F39D99}" presName="background" presStyleLbl="node0" presStyleIdx="2" presStyleCnt="3"/>
      <dgm:spPr/>
    </dgm:pt>
    <dgm:pt modelId="{328B8C3C-249A-7443-98F1-0512CE72EA58}" type="pres">
      <dgm:prSet presAssocID="{55AD0A1F-3DA1-4A6F-A5AC-7C1765F39D99}" presName="text" presStyleLbl="fgAcc0" presStyleIdx="2" presStyleCnt="3">
        <dgm:presLayoutVars>
          <dgm:chPref val="3"/>
        </dgm:presLayoutVars>
      </dgm:prSet>
      <dgm:spPr/>
    </dgm:pt>
    <dgm:pt modelId="{6B463D6D-4944-5A4D-BCF2-AE319533D3DC}" type="pres">
      <dgm:prSet presAssocID="{55AD0A1F-3DA1-4A6F-A5AC-7C1765F39D99}" presName="hierChild2" presStyleCnt="0"/>
      <dgm:spPr/>
    </dgm:pt>
  </dgm:ptLst>
  <dgm:cxnLst>
    <dgm:cxn modelId="{733AC417-03EA-604A-8A15-CF6ECE224CA8}" type="presOf" srcId="{7DCA5903-DE22-4EDE-98F7-12BB6A55B23D}" destId="{9CCBA61E-596A-364C-9A90-7DFB43FD4C22}" srcOrd="0" destOrd="0" presId="urn:microsoft.com/office/officeart/2005/8/layout/hierarchy1"/>
    <dgm:cxn modelId="{EACB9040-0498-BB45-BB54-443DB354BEA7}" type="presOf" srcId="{55AD0A1F-3DA1-4A6F-A5AC-7C1765F39D99}" destId="{328B8C3C-249A-7443-98F1-0512CE72EA58}" srcOrd="0" destOrd="0" presId="urn:microsoft.com/office/officeart/2005/8/layout/hierarchy1"/>
    <dgm:cxn modelId="{D8D80C41-C8C5-5149-AAFA-E6A225A9035D}" type="presOf" srcId="{E6EE3C48-8FDF-496E-964C-4F213DA2E6C3}" destId="{1EA71CC3-FF98-8844-A8FC-95108FA036B9}" srcOrd="0" destOrd="0" presId="urn:microsoft.com/office/officeart/2005/8/layout/hierarchy1"/>
    <dgm:cxn modelId="{67EB2375-584F-43FE-85C5-228AE611A881}" srcId="{E6EE3C48-8FDF-496E-964C-4F213DA2E6C3}" destId="{55AD0A1F-3DA1-4A6F-A5AC-7C1765F39D99}" srcOrd="2" destOrd="0" parTransId="{349CD8D6-CDED-4687-B962-2827C9D7E210}" sibTransId="{B14D047F-72B0-4443-BD47-EE1B243EC096}"/>
    <dgm:cxn modelId="{C487867E-9ED4-4564-AEC5-9D12A98D663D}" srcId="{E6EE3C48-8FDF-496E-964C-4F213DA2E6C3}" destId="{7DCA5903-DE22-4EDE-98F7-12BB6A55B23D}" srcOrd="1" destOrd="0" parTransId="{B89B1A85-27FE-445E-8998-908DF4871EF6}" sibTransId="{2BB1DACD-2EF9-4814-96E2-273A25A782B1}"/>
    <dgm:cxn modelId="{45094986-A0B8-6546-BBED-B50FBE4C6482}" type="presOf" srcId="{36421256-CBD2-4357-9A02-3409B0719A17}" destId="{9CB16E0F-2D96-A848-AF32-09119254CD56}" srcOrd="0" destOrd="0" presId="urn:microsoft.com/office/officeart/2005/8/layout/hierarchy1"/>
    <dgm:cxn modelId="{242E35A3-8736-4540-B1EC-7B633ADE8E2E}" srcId="{E6EE3C48-8FDF-496E-964C-4F213DA2E6C3}" destId="{36421256-CBD2-4357-9A02-3409B0719A17}" srcOrd="0" destOrd="0" parTransId="{A0EFF7A6-0488-42F0-B7C5-D9D4A1571C56}" sibTransId="{F69E7728-3989-4BCF-9AD3-D994B5B1CE95}"/>
    <dgm:cxn modelId="{3876DE81-6C16-5E4E-8724-CF4C28A41A6D}" type="presParOf" srcId="{1EA71CC3-FF98-8844-A8FC-95108FA036B9}" destId="{3DD7C7E3-0B87-DE4A-8EE5-5EA635B0340C}" srcOrd="0" destOrd="0" presId="urn:microsoft.com/office/officeart/2005/8/layout/hierarchy1"/>
    <dgm:cxn modelId="{E96DE10E-FF56-EA46-BB6F-1DCE79009C34}" type="presParOf" srcId="{3DD7C7E3-0B87-DE4A-8EE5-5EA635B0340C}" destId="{66CF8254-2188-244B-9903-B419EC11C1CD}" srcOrd="0" destOrd="0" presId="urn:microsoft.com/office/officeart/2005/8/layout/hierarchy1"/>
    <dgm:cxn modelId="{EDF2D795-1DE9-6E49-8A13-1648F5D0D0E0}" type="presParOf" srcId="{66CF8254-2188-244B-9903-B419EC11C1CD}" destId="{7C8C9A53-3EBE-5E4F-B980-82A4135D8320}" srcOrd="0" destOrd="0" presId="urn:microsoft.com/office/officeart/2005/8/layout/hierarchy1"/>
    <dgm:cxn modelId="{DFDDCAA8-AF2D-E248-9FB9-ED4225BF2CD7}" type="presParOf" srcId="{66CF8254-2188-244B-9903-B419EC11C1CD}" destId="{9CB16E0F-2D96-A848-AF32-09119254CD56}" srcOrd="1" destOrd="0" presId="urn:microsoft.com/office/officeart/2005/8/layout/hierarchy1"/>
    <dgm:cxn modelId="{C0850CFD-93E9-C641-9230-F6BBE296849C}" type="presParOf" srcId="{3DD7C7E3-0B87-DE4A-8EE5-5EA635B0340C}" destId="{B3EBC725-BB8A-4548-90C3-78BA5C95243C}" srcOrd="1" destOrd="0" presId="urn:microsoft.com/office/officeart/2005/8/layout/hierarchy1"/>
    <dgm:cxn modelId="{589CA7A0-52AA-BA4F-80CF-8FB940CB30E9}" type="presParOf" srcId="{1EA71CC3-FF98-8844-A8FC-95108FA036B9}" destId="{5CAA27D1-05EA-434C-B90F-647EB50C63E7}" srcOrd="1" destOrd="0" presId="urn:microsoft.com/office/officeart/2005/8/layout/hierarchy1"/>
    <dgm:cxn modelId="{6B64F2FE-6945-9D40-9B57-FCD4ABD5EE82}" type="presParOf" srcId="{5CAA27D1-05EA-434C-B90F-647EB50C63E7}" destId="{3072FC37-A9A9-2C42-96D7-2A973DE2EE8C}" srcOrd="0" destOrd="0" presId="urn:microsoft.com/office/officeart/2005/8/layout/hierarchy1"/>
    <dgm:cxn modelId="{D6EF0F3A-2A78-F347-A84B-DB552FA401B5}" type="presParOf" srcId="{3072FC37-A9A9-2C42-96D7-2A973DE2EE8C}" destId="{491C79FC-C589-C849-99EA-9CBDF4B38897}" srcOrd="0" destOrd="0" presId="urn:microsoft.com/office/officeart/2005/8/layout/hierarchy1"/>
    <dgm:cxn modelId="{A8AF82CE-8343-724A-AF91-F09FEC739ABF}" type="presParOf" srcId="{3072FC37-A9A9-2C42-96D7-2A973DE2EE8C}" destId="{9CCBA61E-596A-364C-9A90-7DFB43FD4C22}" srcOrd="1" destOrd="0" presId="urn:microsoft.com/office/officeart/2005/8/layout/hierarchy1"/>
    <dgm:cxn modelId="{0A2D1265-1E91-234D-A319-196D73B75838}" type="presParOf" srcId="{5CAA27D1-05EA-434C-B90F-647EB50C63E7}" destId="{4011EA71-C492-C743-B827-A3D563DB6AEC}" srcOrd="1" destOrd="0" presId="urn:microsoft.com/office/officeart/2005/8/layout/hierarchy1"/>
    <dgm:cxn modelId="{028BA4E1-6DEF-E447-8D2E-31105E464637}" type="presParOf" srcId="{1EA71CC3-FF98-8844-A8FC-95108FA036B9}" destId="{4A61AE78-BD4B-AD42-B372-838338F7841D}" srcOrd="2" destOrd="0" presId="urn:microsoft.com/office/officeart/2005/8/layout/hierarchy1"/>
    <dgm:cxn modelId="{C2C3C38E-ED06-CE41-BBBF-FB1ACCFF215D}" type="presParOf" srcId="{4A61AE78-BD4B-AD42-B372-838338F7841D}" destId="{B180962C-4170-A04D-B55F-7323F84C4043}" srcOrd="0" destOrd="0" presId="urn:microsoft.com/office/officeart/2005/8/layout/hierarchy1"/>
    <dgm:cxn modelId="{519AFF90-6A77-6B4A-A167-36D685249A39}" type="presParOf" srcId="{B180962C-4170-A04D-B55F-7323F84C4043}" destId="{2DA4F10D-4181-294F-A755-D64E51E48540}" srcOrd="0" destOrd="0" presId="urn:microsoft.com/office/officeart/2005/8/layout/hierarchy1"/>
    <dgm:cxn modelId="{F32706F7-D026-FB4A-91CA-E7D3DB68B6CA}" type="presParOf" srcId="{B180962C-4170-A04D-B55F-7323F84C4043}" destId="{328B8C3C-249A-7443-98F1-0512CE72EA58}" srcOrd="1" destOrd="0" presId="urn:microsoft.com/office/officeart/2005/8/layout/hierarchy1"/>
    <dgm:cxn modelId="{AF0A624B-D89E-0C45-9364-DBBABF4F5461}" type="presParOf" srcId="{4A61AE78-BD4B-AD42-B372-838338F7841D}" destId="{6B463D6D-4944-5A4D-BCF2-AE319533D3D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D84E8F-93BF-4BDE-B335-F17C8504B35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C356739-41FC-4DE2-80E1-30C3510D9162}">
      <dgm:prSet/>
      <dgm:spPr/>
      <dgm:t>
        <a:bodyPr/>
        <a:lstStyle/>
        <a:p>
          <a:r>
            <a:rPr lang="en-US"/>
            <a:t>Methods, data, ethics, operationalization</a:t>
          </a:r>
        </a:p>
      </dgm:t>
    </dgm:pt>
    <dgm:pt modelId="{F6A42975-8480-4F6A-8C6E-8E95F356E63A}" type="parTrans" cxnId="{1F323948-E7E3-4FA6-A45A-AD7E279AF749}">
      <dgm:prSet/>
      <dgm:spPr/>
      <dgm:t>
        <a:bodyPr/>
        <a:lstStyle/>
        <a:p>
          <a:endParaRPr lang="en-US"/>
        </a:p>
      </dgm:t>
    </dgm:pt>
    <dgm:pt modelId="{CA6130B5-599D-4D20-8494-5E900843790E}" type="sibTrans" cxnId="{1F323948-E7E3-4FA6-A45A-AD7E279AF749}">
      <dgm:prSet/>
      <dgm:spPr/>
      <dgm:t>
        <a:bodyPr/>
        <a:lstStyle/>
        <a:p>
          <a:endParaRPr lang="en-US"/>
        </a:p>
      </dgm:t>
    </dgm:pt>
    <dgm:pt modelId="{48239D54-0CBE-435E-9334-88AB6B376772}">
      <dgm:prSet/>
      <dgm:spPr/>
      <dgm:t>
        <a:bodyPr/>
        <a:lstStyle/>
        <a:p>
          <a:r>
            <a:rPr lang="en-US"/>
            <a:t>Trade-offs and deployment considerations</a:t>
          </a:r>
        </a:p>
      </dgm:t>
    </dgm:pt>
    <dgm:pt modelId="{AB760EBE-9D77-412E-A984-44A84F92B557}" type="parTrans" cxnId="{8F271E20-9641-4DC8-BECB-167F96D55EC7}">
      <dgm:prSet/>
      <dgm:spPr/>
      <dgm:t>
        <a:bodyPr/>
        <a:lstStyle/>
        <a:p>
          <a:endParaRPr lang="en-US"/>
        </a:p>
      </dgm:t>
    </dgm:pt>
    <dgm:pt modelId="{246D295A-7EC9-4185-BC79-82A1A966FE2E}" type="sibTrans" cxnId="{8F271E20-9641-4DC8-BECB-167F96D55EC7}">
      <dgm:prSet/>
      <dgm:spPr/>
      <dgm:t>
        <a:bodyPr/>
        <a:lstStyle/>
        <a:p>
          <a:endParaRPr lang="en-US"/>
        </a:p>
      </dgm:t>
    </dgm:pt>
    <dgm:pt modelId="{FD83F2E6-BF83-4226-AA8F-8F39747D685D}">
      <dgm:prSet/>
      <dgm:spPr/>
      <dgm:t>
        <a:bodyPr/>
        <a:lstStyle/>
        <a:p>
          <a:r>
            <a:rPr lang="en-US"/>
            <a:t>Thank you</a:t>
          </a:r>
        </a:p>
      </dgm:t>
    </dgm:pt>
    <dgm:pt modelId="{8DDF6B17-8341-4FF1-BA4B-AC1F947CA091}" type="parTrans" cxnId="{ADB4408D-8AFC-49C7-A74C-9294A6EDA1AD}">
      <dgm:prSet/>
      <dgm:spPr/>
      <dgm:t>
        <a:bodyPr/>
        <a:lstStyle/>
        <a:p>
          <a:endParaRPr lang="en-US"/>
        </a:p>
      </dgm:t>
    </dgm:pt>
    <dgm:pt modelId="{23E4D426-BFF2-4315-ADD4-3AA40CE47DF9}" type="sibTrans" cxnId="{ADB4408D-8AFC-49C7-A74C-9294A6EDA1AD}">
      <dgm:prSet/>
      <dgm:spPr/>
      <dgm:t>
        <a:bodyPr/>
        <a:lstStyle/>
        <a:p>
          <a:endParaRPr lang="en-US"/>
        </a:p>
      </dgm:t>
    </dgm:pt>
    <dgm:pt modelId="{027CAEB9-FCBA-4004-962C-759F8A36171F}" type="pres">
      <dgm:prSet presAssocID="{DDD84E8F-93BF-4BDE-B335-F17C8504B359}" presName="root" presStyleCnt="0">
        <dgm:presLayoutVars>
          <dgm:dir/>
          <dgm:resizeHandles val="exact"/>
        </dgm:presLayoutVars>
      </dgm:prSet>
      <dgm:spPr/>
    </dgm:pt>
    <dgm:pt modelId="{544ABBD9-1A5B-4E41-946D-74F1C3DCBCE5}" type="pres">
      <dgm:prSet presAssocID="{9C356739-41FC-4DE2-80E1-30C3510D9162}" presName="compNode" presStyleCnt="0"/>
      <dgm:spPr/>
    </dgm:pt>
    <dgm:pt modelId="{C8385B64-83A3-481F-95CC-BCBF39BEA3E0}" type="pres">
      <dgm:prSet presAssocID="{9C356739-41FC-4DE2-80E1-30C3510D916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D9F9F3F-D81E-4DCA-AFCE-CF4B5B92C3FC}" type="pres">
      <dgm:prSet presAssocID="{9C356739-41FC-4DE2-80E1-30C3510D9162}" presName="spaceRect" presStyleCnt="0"/>
      <dgm:spPr/>
    </dgm:pt>
    <dgm:pt modelId="{DFA024C5-53C5-4646-B84E-7C8EAF28FE37}" type="pres">
      <dgm:prSet presAssocID="{9C356739-41FC-4DE2-80E1-30C3510D9162}" presName="textRect" presStyleLbl="revTx" presStyleIdx="0" presStyleCnt="3">
        <dgm:presLayoutVars>
          <dgm:chMax val="1"/>
          <dgm:chPref val="1"/>
        </dgm:presLayoutVars>
      </dgm:prSet>
      <dgm:spPr/>
    </dgm:pt>
    <dgm:pt modelId="{E20A2384-0CE2-4706-8D3D-301F00A5278A}" type="pres">
      <dgm:prSet presAssocID="{CA6130B5-599D-4D20-8494-5E900843790E}" presName="sibTrans" presStyleCnt="0"/>
      <dgm:spPr/>
    </dgm:pt>
    <dgm:pt modelId="{D89AD4B2-11AB-49F9-9662-6E762E0F1144}" type="pres">
      <dgm:prSet presAssocID="{48239D54-0CBE-435E-9334-88AB6B376772}" presName="compNode" presStyleCnt="0"/>
      <dgm:spPr/>
    </dgm:pt>
    <dgm:pt modelId="{DCEB4C1B-FC76-45E0-BE16-A9FC02A7ED3F}" type="pres">
      <dgm:prSet presAssocID="{48239D54-0CBE-435E-9334-88AB6B37677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E8AC923A-A974-41F8-BBF9-6944E59474E8}" type="pres">
      <dgm:prSet presAssocID="{48239D54-0CBE-435E-9334-88AB6B376772}" presName="spaceRect" presStyleCnt="0"/>
      <dgm:spPr/>
    </dgm:pt>
    <dgm:pt modelId="{9B511CB3-4CC5-4AE8-B68F-7D13EF1619D1}" type="pres">
      <dgm:prSet presAssocID="{48239D54-0CBE-435E-9334-88AB6B376772}" presName="textRect" presStyleLbl="revTx" presStyleIdx="1" presStyleCnt="3">
        <dgm:presLayoutVars>
          <dgm:chMax val="1"/>
          <dgm:chPref val="1"/>
        </dgm:presLayoutVars>
      </dgm:prSet>
      <dgm:spPr/>
    </dgm:pt>
    <dgm:pt modelId="{4A098856-87EA-4E13-AC14-489025EA0A08}" type="pres">
      <dgm:prSet presAssocID="{246D295A-7EC9-4185-BC79-82A1A966FE2E}" presName="sibTrans" presStyleCnt="0"/>
      <dgm:spPr/>
    </dgm:pt>
    <dgm:pt modelId="{EE27E3D2-C83B-4173-BE1D-D8D111E86E8A}" type="pres">
      <dgm:prSet presAssocID="{FD83F2E6-BF83-4226-AA8F-8F39747D685D}" presName="compNode" presStyleCnt="0"/>
      <dgm:spPr/>
    </dgm:pt>
    <dgm:pt modelId="{0465B549-C012-42AE-AC61-B715B772D952}" type="pres">
      <dgm:prSet presAssocID="{FD83F2E6-BF83-4226-AA8F-8F39747D685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79CB4E69-ADFE-45E8-88BD-A9B8E177363F}" type="pres">
      <dgm:prSet presAssocID="{FD83F2E6-BF83-4226-AA8F-8F39747D685D}" presName="spaceRect" presStyleCnt="0"/>
      <dgm:spPr/>
    </dgm:pt>
    <dgm:pt modelId="{5FF79F52-0812-4CF5-B032-4533E0526B82}" type="pres">
      <dgm:prSet presAssocID="{FD83F2E6-BF83-4226-AA8F-8F39747D685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59E7319-1064-40E4-887D-FC07EA09EFAE}" type="presOf" srcId="{9C356739-41FC-4DE2-80E1-30C3510D9162}" destId="{DFA024C5-53C5-4646-B84E-7C8EAF28FE37}" srcOrd="0" destOrd="0" presId="urn:microsoft.com/office/officeart/2018/2/layout/IconLabelList"/>
    <dgm:cxn modelId="{8F271E20-9641-4DC8-BECB-167F96D55EC7}" srcId="{DDD84E8F-93BF-4BDE-B335-F17C8504B359}" destId="{48239D54-0CBE-435E-9334-88AB6B376772}" srcOrd="1" destOrd="0" parTransId="{AB760EBE-9D77-412E-A984-44A84F92B557}" sibTransId="{246D295A-7EC9-4185-BC79-82A1A966FE2E}"/>
    <dgm:cxn modelId="{D071583A-990D-4565-8296-EB0FD461F879}" type="presOf" srcId="{FD83F2E6-BF83-4226-AA8F-8F39747D685D}" destId="{5FF79F52-0812-4CF5-B032-4533E0526B82}" srcOrd="0" destOrd="0" presId="urn:microsoft.com/office/officeart/2018/2/layout/IconLabelList"/>
    <dgm:cxn modelId="{1F323948-E7E3-4FA6-A45A-AD7E279AF749}" srcId="{DDD84E8F-93BF-4BDE-B335-F17C8504B359}" destId="{9C356739-41FC-4DE2-80E1-30C3510D9162}" srcOrd="0" destOrd="0" parTransId="{F6A42975-8480-4F6A-8C6E-8E95F356E63A}" sibTransId="{CA6130B5-599D-4D20-8494-5E900843790E}"/>
    <dgm:cxn modelId="{F054C950-1A99-47E6-A6A5-8F1D4D937EC1}" type="presOf" srcId="{DDD84E8F-93BF-4BDE-B335-F17C8504B359}" destId="{027CAEB9-FCBA-4004-962C-759F8A36171F}" srcOrd="0" destOrd="0" presId="urn:microsoft.com/office/officeart/2018/2/layout/IconLabelList"/>
    <dgm:cxn modelId="{ADB4408D-8AFC-49C7-A74C-9294A6EDA1AD}" srcId="{DDD84E8F-93BF-4BDE-B335-F17C8504B359}" destId="{FD83F2E6-BF83-4226-AA8F-8F39747D685D}" srcOrd="2" destOrd="0" parTransId="{8DDF6B17-8341-4FF1-BA4B-AC1F947CA091}" sibTransId="{23E4D426-BFF2-4315-ADD4-3AA40CE47DF9}"/>
    <dgm:cxn modelId="{65D9F59E-D559-46CD-B5E2-442061FEF416}" type="presOf" srcId="{48239D54-0CBE-435E-9334-88AB6B376772}" destId="{9B511CB3-4CC5-4AE8-B68F-7D13EF1619D1}" srcOrd="0" destOrd="0" presId="urn:microsoft.com/office/officeart/2018/2/layout/IconLabelList"/>
    <dgm:cxn modelId="{BF98DF98-7AE4-4055-AD0D-4012AB33A526}" type="presParOf" srcId="{027CAEB9-FCBA-4004-962C-759F8A36171F}" destId="{544ABBD9-1A5B-4E41-946D-74F1C3DCBCE5}" srcOrd="0" destOrd="0" presId="urn:microsoft.com/office/officeart/2018/2/layout/IconLabelList"/>
    <dgm:cxn modelId="{B6233A9A-DAA8-4872-BDD2-47DB87AE3CBA}" type="presParOf" srcId="{544ABBD9-1A5B-4E41-946D-74F1C3DCBCE5}" destId="{C8385B64-83A3-481F-95CC-BCBF39BEA3E0}" srcOrd="0" destOrd="0" presId="urn:microsoft.com/office/officeart/2018/2/layout/IconLabelList"/>
    <dgm:cxn modelId="{96FD48B8-68B3-422B-A36D-5C9253740709}" type="presParOf" srcId="{544ABBD9-1A5B-4E41-946D-74F1C3DCBCE5}" destId="{ED9F9F3F-D81E-4DCA-AFCE-CF4B5B92C3FC}" srcOrd="1" destOrd="0" presId="urn:microsoft.com/office/officeart/2018/2/layout/IconLabelList"/>
    <dgm:cxn modelId="{23F6370C-82BE-4CEB-B354-3FB56FB7D299}" type="presParOf" srcId="{544ABBD9-1A5B-4E41-946D-74F1C3DCBCE5}" destId="{DFA024C5-53C5-4646-B84E-7C8EAF28FE37}" srcOrd="2" destOrd="0" presId="urn:microsoft.com/office/officeart/2018/2/layout/IconLabelList"/>
    <dgm:cxn modelId="{C3CE4FE8-2ED7-454D-BF42-4D1EFDFC0417}" type="presParOf" srcId="{027CAEB9-FCBA-4004-962C-759F8A36171F}" destId="{E20A2384-0CE2-4706-8D3D-301F00A5278A}" srcOrd="1" destOrd="0" presId="urn:microsoft.com/office/officeart/2018/2/layout/IconLabelList"/>
    <dgm:cxn modelId="{518CD528-57D5-4048-8D22-8F4E8D037D43}" type="presParOf" srcId="{027CAEB9-FCBA-4004-962C-759F8A36171F}" destId="{D89AD4B2-11AB-49F9-9662-6E762E0F1144}" srcOrd="2" destOrd="0" presId="urn:microsoft.com/office/officeart/2018/2/layout/IconLabelList"/>
    <dgm:cxn modelId="{855D80A8-283C-4B69-9A56-3825E540F391}" type="presParOf" srcId="{D89AD4B2-11AB-49F9-9662-6E762E0F1144}" destId="{DCEB4C1B-FC76-45E0-BE16-A9FC02A7ED3F}" srcOrd="0" destOrd="0" presId="urn:microsoft.com/office/officeart/2018/2/layout/IconLabelList"/>
    <dgm:cxn modelId="{E3F3EADC-6866-4446-983C-9D4B1F9F61A1}" type="presParOf" srcId="{D89AD4B2-11AB-49F9-9662-6E762E0F1144}" destId="{E8AC923A-A974-41F8-BBF9-6944E59474E8}" srcOrd="1" destOrd="0" presId="urn:microsoft.com/office/officeart/2018/2/layout/IconLabelList"/>
    <dgm:cxn modelId="{B7897488-9E00-4BD0-8701-3078CF0814D0}" type="presParOf" srcId="{D89AD4B2-11AB-49F9-9662-6E762E0F1144}" destId="{9B511CB3-4CC5-4AE8-B68F-7D13EF1619D1}" srcOrd="2" destOrd="0" presId="urn:microsoft.com/office/officeart/2018/2/layout/IconLabelList"/>
    <dgm:cxn modelId="{0534D0AD-6826-4CD1-9F70-76967353D1F7}" type="presParOf" srcId="{027CAEB9-FCBA-4004-962C-759F8A36171F}" destId="{4A098856-87EA-4E13-AC14-489025EA0A08}" srcOrd="3" destOrd="0" presId="urn:microsoft.com/office/officeart/2018/2/layout/IconLabelList"/>
    <dgm:cxn modelId="{24CCDBFF-46EB-4F1B-B271-11877320A16F}" type="presParOf" srcId="{027CAEB9-FCBA-4004-962C-759F8A36171F}" destId="{EE27E3D2-C83B-4173-BE1D-D8D111E86E8A}" srcOrd="4" destOrd="0" presId="urn:microsoft.com/office/officeart/2018/2/layout/IconLabelList"/>
    <dgm:cxn modelId="{512422A6-CE94-4EB3-8361-B7C205803619}" type="presParOf" srcId="{EE27E3D2-C83B-4173-BE1D-D8D111E86E8A}" destId="{0465B549-C012-42AE-AC61-B715B772D952}" srcOrd="0" destOrd="0" presId="urn:microsoft.com/office/officeart/2018/2/layout/IconLabelList"/>
    <dgm:cxn modelId="{B05D4C10-D12C-4A68-9CCD-C05319C66976}" type="presParOf" srcId="{EE27E3D2-C83B-4173-BE1D-D8D111E86E8A}" destId="{79CB4E69-ADFE-45E8-88BD-A9B8E177363F}" srcOrd="1" destOrd="0" presId="urn:microsoft.com/office/officeart/2018/2/layout/IconLabelList"/>
    <dgm:cxn modelId="{8CB191BB-2CCA-480B-8F22-E4C7D0D4CB68}" type="presParOf" srcId="{EE27E3D2-C83B-4173-BE1D-D8D111E86E8A}" destId="{5FF79F52-0812-4CF5-B032-4533E0526B8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24025-E987-EB49-9F34-197CD489AFFD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CC41B6-4CA1-6142-896C-E660473F1212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Hypothesis: Integrated ML pipeline improves predictive accuracy and operational insight.</a:t>
          </a:r>
        </a:p>
      </dsp:txBody>
      <dsp:txXfrm>
        <a:off x="298991" y="1277365"/>
        <a:ext cx="2219346" cy="1377989"/>
      </dsp:txXfrm>
    </dsp:sp>
    <dsp:sp modelId="{DBE77B03-66F6-B342-8AE4-B333F1BC1FF3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F2E30-5D64-A541-A549-5D00260DAD16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RQ1: Can we forecast demand and revenue accurately at hourly scale?</a:t>
          </a:r>
        </a:p>
      </dsp:txBody>
      <dsp:txXfrm>
        <a:off x="3116322" y="1277365"/>
        <a:ext cx="2219346" cy="1377989"/>
      </dsp:txXfrm>
    </dsp:sp>
    <dsp:sp modelId="{EAC07C42-12A2-884B-B1E4-3F6E34BC4A6E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969A2-C4C8-CA4A-93DB-20AE1370B999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RQ2: Can forecasts inform pricing and resource allocation decisions?</a:t>
          </a:r>
        </a:p>
      </dsp:txBody>
      <dsp:txXfrm>
        <a:off x="5933653" y="1277365"/>
        <a:ext cx="2219346" cy="13779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49FEE1-1801-4722-A9C0-2E6D85CE89BA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E9509F-B843-4678-98B6-D5F1B887EC13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4A3661-7022-4A0C-879F-3365283F4DFA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Temporal demand patterns</a:t>
          </a:r>
        </a:p>
      </dsp:txBody>
      <dsp:txXfrm>
        <a:off x="46529" y="2703902"/>
        <a:ext cx="2418750" cy="720000"/>
      </dsp:txXfrm>
    </dsp:sp>
    <dsp:sp modelId="{79065B5C-08C4-4AB3-A271-F71C9616CA8C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C26BFE-E702-4AAD-B716-5A990BDA51C1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AF0C4-6E57-429C-BD6B-5884919F33C9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Model accuracy comparisons</a:t>
          </a:r>
        </a:p>
      </dsp:txBody>
      <dsp:txXfrm>
        <a:off x="2888560" y="2703902"/>
        <a:ext cx="2418750" cy="720000"/>
      </dsp:txXfrm>
    </dsp:sp>
    <dsp:sp modelId="{3DCAE45F-5C22-4EAB-B41C-CC77AD045B2D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4674F8-AF21-4C71-B2FC-558E8F0C2EB1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96A34-6B45-4D07-9C61-AF02ABC74A16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Operational and pricing insights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73870-1100-B143-915A-82CF9C56AC60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6CE23-F8D4-DF40-870F-0626ADEE7C03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Integrated ML pipeline improved accuracy and decision linkage</a:t>
          </a:r>
        </a:p>
      </dsp:txBody>
      <dsp:txXfrm>
        <a:off x="298991" y="1277365"/>
        <a:ext cx="2219346" cy="1377989"/>
      </dsp:txXfrm>
    </dsp:sp>
    <dsp:sp modelId="{260419FD-989D-534A-9218-9D22C6C4BE07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53BCCE-E545-AA4F-BD55-39D3A5123346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Context matters for transferability</a:t>
          </a:r>
        </a:p>
      </dsp:txBody>
      <dsp:txXfrm>
        <a:off x="3116322" y="1277365"/>
        <a:ext cx="2219346" cy="1377989"/>
      </dsp:txXfrm>
    </dsp:sp>
    <dsp:sp modelId="{359731BD-1E4D-D747-B4BE-4D589125AFB1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C97E41-64C8-D242-A2BD-D6F21A391E67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Balance between accuracy and transparency</a:t>
          </a:r>
        </a:p>
      </dsp:txBody>
      <dsp:txXfrm>
        <a:off x="5933653" y="1277365"/>
        <a:ext cx="2219346" cy="13779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8C9A53-3EBE-5E4F-B980-82A4135D8320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16E0F-2D96-A848-AF32-09119254CD56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Regional generalization and transfer learning</a:t>
          </a:r>
        </a:p>
      </dsp:txBody>
      <dsp:txXfrm>
        <a:off x="298991" y="1277365"/>
        <a:ext cx="2219346" cy="1377989"/>
      </dsp:txXfrm>
    </dsp:sp>
    <dsp:sp modelId="{491C79FC-C589-C849-99EA-9CBDF4B38897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CBA61E-596A-364C-9A90-7DFB43FD4C22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Real-time closed-loop optimization</a:t>
          </a:r>
        </a:p>
      </dsp:txBody>
      <dsp:txXfrm>
        <a:off x="3116322" y="1277365"/>
        <a:ext cx="2219346" cy="1377989"/>
      </dsp:txXfrm>
    </dsp:sp>
    <dsp:sp modelId="{2DA4F10D-4181-294F-A755-D64E51E48540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B8C3C-249A-7443-98F1-0512CE72EA58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Fairness audits and explainable interfaces</a:t>
          </a:r>
        </a:p>
      </dsp:txBody>
      <dsp:txXfrm>
        <a:off x="5933653" y="1277365"/>
        <a:ext cx="2219346" cy="13779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385B64-83A3-481F-95CC-BCBF39BEA3E0}">
      <dsp:nvSpPr>
        <dsp:cNvPr id="0" name=""/>
        <dsp:cNvSpPr/>
      </dsp:nvSpPr>
      <dsp:spPr>
        <a:xfrm>
          <a:off x="73847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024C5-53C5-4646-B84E-7C8EAF28FE37}">
      <dsp:nvSpPr>
        <dsp:cNvPr id="0" name=""/>
        <dsp:cNvSpPr/>
      </dsp:nvSpPr>
      <dsp:spPr>
        <a:xfrm>
          <a:off x="78583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Methods, data, ethics, operationalization</a:t>
          </a:r>
        </a:p>
      </dsp:txBody>
      <dsp:txXfrm>
        <a:off x="78583" y="2183504"/>
        <a:ext cx="2399612" cy="720000"/>
      </dsp:txXfrm>
    </dsp:sp>
    <dsp:sp modelId="{DCEB4C1B-FC76-45E0-BE16-A9FC02A7ED3F}">
      <dsp:nvSpPr>
        <dsp:cNvPr id="0" name=""/>
        <dsp:cNvSpPr/>
      </dsp:nvSpPr>
      <dsp:spPr>
        <a:xfrm>
          <a:off x="3558022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11CB3-4CC5-4AE8-B68F-7D13EF1619D1}">
      <dsp:nvSpPr>
        <dsp:cNvPr id="0" name=""/>
        <dsp:cNvSpPr/>
      </dsp:nvSpPr>
      <dsp:spPr>
        <a:xfrm>
          <a:off x="2898129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Trade-offs and deployment considerations</a:t>
          </a:r>
        </a:p>
      </dsp:txBody>
      <dsp:txXfrm>
        <a:off x="2898129" y="2183504"/>
        <a:ext cx="2399612" cy="720000"/>
      </dsp:txXfrm>
    </dsp:sp>
    <dsp:sp modelId="{0465B549-C012-42AE-AC61-B715B772D952}">
      <dsp:nvSpPr>
        <dsp:cNvPr id="0" name=""/>
        <dsp:cNvSpPr/>
      </dsp:nvSpPr>
      <dsp:spPr>
        <a:xfrm>
          <a:off x="6377567" y="785900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79F52-0812-4CF5-B032-4533E0526B82}">
      <dsp:nvSpPr>
        <dsp:cNvPr id="0" name=""/>
        <dsp:cNvSpPr/>
      </dsp:nvSpPr>
      <dsp:spPr>
        <a:xfrm>
          <a:off x="5717674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Thank you</a:t>
          </a:r>
        </a:p>
      </dsp:txBody>
      <dsp:txXfrm>
        <a:off x="5717674" y="2183504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034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thesis title. Provide a quick overview of the agenda and duration.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flow. Set expectations for figures and transitions. Target one to two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Problem Context Map if available. Ground the audience in the local context and 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end-to-end pipeline. Keep it high-level here; details will come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Make the claims precise and testable. Keep this slide crisp.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to how your results align or differ. Mention key citations verbally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conceptual diagram to explain the intersection of fairness, sustainability, and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Preview the steps; specifics follow on subsequent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Call out any caveats or filtering choices that affect downstream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rationale for each engineered feature and any ablations you considered.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reproducibility. Note any hyperparameters and selection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how predictions could inform price multipliers. Keep it conceptual, not proprietary.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bidirectional flows and one-way external inputs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up the next sequence of detailed results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Call out the specific peaks. Tie to actionable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why some features dominate and how that affects policy and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any heteroskedasticity or tail risks apparent in the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the expected dips were not visible, explain adjustments or alternate metrics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zones were defined and how to interpret the heat intensity.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back to literature on elasticity and perceived fairness.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assumptions and whether the scenario is illustrative or empirically 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to weave results back to your core research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concise and memorable. This sets up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future work to real constraints you observed.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questions. Keep backup slides handy if you add them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600" b="1">
                <a:solidFill>
                  <a:srgbClr val="FFFFFF"/>
                </a:solidFill>
                <a:latin typeface="Calibri"/>
              </a:rPr>
              <a:t>Machine Learning-Based Forecasting of Ride-Hailing Demand, Revenue, and Operations: A Case Study of Delhi NCR, India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8905" y="4797188"/>
            <a:ext cx="4538427" cy="1241828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  <a:latin typeface="Calibri"/>
              </a:rPr>
              <a:t>Sandeep Kang</a:t>
            </a:r>
          </a:p>
          <a:p>
            <a:pPr algn="r"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  <a:latin typeface="Calibri"/>
              </a:rPr>
              <a:t>INFO-I 492 Senior Thesis — Indiana University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>
                <a:latin typeface="Calibri"/>
              </a:rPr>
              <a:t>Background and problem context</a:t>
            </a:r>
          </a:p>
          <a:p>
            <a:r>
              <a:rPr lang="en-US" sz="1700">
                <a:latin typeface="Calibri"/>
              </a:rPr>
              <a:t>Hypothesis and research questions</a:t>
            </a:r>
          </a:p>
          <a:p>
            <a:r>
              <a:rPr lang="en-US" sz="1700">
                <a:latin typeface="Calibri"/>
              </a:rPr>
              <a:t>Literature review highlights</a:t>
            </a:r>
          </a:p>
          <a:p>
            <a:r>
              <a:rPr lang="en-US" sz="1700">
                <a:latin typeface="Calibri"/>
              </a:rPr>
              <a:t>Methods and dataset</a:t>
            </a:r>
          </a:p>
          <a:p>
            <a:r>
              <a:rPr lang="en-US" sz="1700">
                <a:latin typeface="Calibri"/>
              </a:rPr>
              <a:t>Results</a:t>
            </a:r>
          </a:p>
          <a:p>
            <a:r>
              <a:rPr lang="en-US" sz="1700">
                <a:latin typeface="Calibri"/>
              </a:rPr>
              <a:t>Discussion and implications</a:t>
            </a:r>
          </a:p>
          <a:p>
            <a:r>
              <a:rPr lang="en-US" sz="1700">
                <a:latin typeface="Calibri"/>
              </a:rPr>
              <a:t>Conclusion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7743" y="741391"/>
            <a:ext cx="3914480" cy="1616203"/>
          </a:xfrm>
        </p:spPr>
        <p:txBody>
          <a:bodyPr anchor="b">
            <a:normAutofit/>
          </a:bodyPr>
          <a:lstStyle/>
          <a:p>
            <a:r>
              <a:rPr lang="en-US" sz="2800" b="1">
                <a:latin typeface="Calibri"/>
              </a:rPr>
              <a:t>Background: Ride-Hailing in Delhi NCR</a:t>
            </a:r>
          </a:p>
        </p:txBody>
      </p:sp>
      <p:pic>
        <p:nvPicPr>
          <p:cNvPr id="4" name="Picture 3" descr="Figure1_Problem_Contex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35" y="2233162"/>
            <a:ext cx="3306548" cy="228358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7742" y="2533475"/>
            <a:ext cx="3914481" cy="3448225"/>
          </a:xfrm>
        </p:spPr>
        <p:txBody>
          <a:bodyPr anchor="t">
            <a:normAutofit/>
          </a:bodyPr>
          <a:lstStyle/>
          <a:p>
            <a:r>
              <a:rPr lang="en-US" sz="1700">
                <a:latin typeface="Calibri"/>
              </a:rPr>
              <a:t>Scale of demand and service variability</a:t>
            </a:r>
          </a:p>
          <a:p>
            <a:r>
              <a:rPr lang="en-US" sz="1700">
                <a:latin typeface="Calibri"/>
              </a:rPr>
              <a:t>Operational challenges: cancellations and fulfillment</a:t>
            </a:r>
          </a:p>
          <a:p>
            <a:r>
              <a:rPr lang="en-US" sz="1700">
                <a:latin typeface="Calibri"/>
              </a:rPr>
              <a:t>Motivation for machine learning-based forecasting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C73AF9-0D33-5C66-5D79-0D0129904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96FD6F-5EE9-36C7-C200-3111EF6D0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2A39BB2-02C1-8A8B-8021-68446E047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3448311" cy="1616203"/>
          </a:xfrm>
        </p:spPr>
        <p:txBody>
          <a:bodyPr anchor="b">
            <a:normAutofit/>
          </a:bodyPr>
          <a:lstStyle/>
          <a:p>
            <a:r>
              <a:rPr lang="en-US" sz="2800" b="1">
                <a:latin typeface="Calibri"/>
              </a:rPr>
              <a:t>Project Workflow Overview (Figure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3448310" cy="3447832"/>
          </a:xfrm>
        </p:spPr>
        <p:txBody>
          <a:bodyPr anchor="t">
            <a:normAutofit/>
          </a:bodyPr>
          <a:lstStyle/>
          <a:p>
            <a:r>
              <a:rPr lang="en-US" sz="1700">
                <a:latin typeface="Calibri"/>
              </a:rPr>
              <a:t>Data intake and cleaning</a:t>
            </a:r>
          </a:p>
          <a:p>
            <a:r>
              <a:rPr lang="en-US" sz="1700">
                <a:latin typeface="Calibri"/>
              </a:rPr>
              <a:t>Feature engineering and model training</a:t>
            </a:r>
          </a:p>
          <a:p>
            <a:r>
              <a:rPr lang="en-US" sz="1700">
                <a:latin typeface="Calibri"/>
              </a:rPr>
              <a:t>Evaluation and operational integration</a:t>
            </a:r>
          </a:p>
        </p:txBody>
      </p:sp>
      <p:pic>
        <p:nvPicPr>
          <p:cNvPr id="4" name="Picture 3" descr="Figure2_Project_Workflow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75794"/>
            <a:ext cx="3989297" cy="323133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Calibri"/>
              </a:rPr>
              <a:t>Hypothesis and Research Questions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F7F259-729A-4267-BB14-34A92A4BB2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791716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3719703" cy="1642969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b="1">
                <a:latin typeface="Calibri"/>
              </a:rPr>
              <a:t>Literature Review: Forecasting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418408"/>
            <a:ext cx="3719703" cy="3522569"/>
          </a:xfrm>
        </p:spPr>
        <p:txBody>
          <a:bodyPr anchor="t">
            <a:normAutofit/>
          </a:bodyPr>
          <a:lstStyle/>
          <a:p>
            <a:r>
              <a:rPr lang="en-US" sz="1700">
                <a:latin typeface="Calibri"/>
              </a:rPr>
              <a:t>Classical vs deep learning performance differences</a:t>
            </a:r>
          </a:p>
          <a:p>
            <a:r>
              <a:rPr lang="en-US" sz="1700">
                <a:latin typeface="Calibri"/>
              </a:rPr>
              <a:t>Spatiotemporal and attention-based advances</a:t>
            </a:r>
          </a:p>
          <a:p>
            <a:r>
              <a:rPr lang="en-US" sz="1700">
                <a:latin typeface="Calibri"/>
              </a:rPr>
              <a:t>Evidence for lower MAE and RMSE using deep and ensemble models</a:t>
            </a:r>
          </a:p>
        </p:txBody>
      </p:sp>
      <p:pic>
        <p:nvPicPr>
          <p:cNvPr id="4" name="Picture 3" descr="Figure3_ModelPerformance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331" y="2081148"/>
            <a:ext cx="3900767" cy="228194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20" y="741391"/>
            <a:ext cx="2662237" cy="1616203"/>
          </a:xfrm>
        </p:spPr>
        <p:txBody>
          <a:bodyPr anchor="b">
            <a:normAutofit/>
          </a:bodyPr>
          <a:lstStyle/>
          <a:p>
            <a:r>
              <a:rPr lang="en-US" sz="2800" b="1">
                <a:latin typeface="Calibri"/>
              </a:rPr>
              <a:t>Literature Review: Fairness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2510223" cy="3447832"/>
          </a:xfrm>
        </p:spPr>
        <p:txBody>
          <a:bodyPr anchor="t">
            <a:normAutofit/>
          </a:bodyPr>
          <a:lstStyle/>
          <a:p>
            <a:r>
              <a:rPr lang="en-US" sz="1700">
                <a:latin typeface="Calibri"/>
              </a:rPr>
              <a:t>Fairness-aware optimization and constraints</a:t>
            </a:r>
          </a:p>
          <a:p>
            <a:r>
              <a:rPr lang="en-US" sz="1700">
                <a:latin typeface="Calibri"/>
              </a:rPr>
              <a:t>Regulatory expectations and auditability</a:t>
            </a:r>
          </a:p>
          <a:p>
            <a:r>
              <a:rPr lang="en-US" sz="1700">
                <a:latin typeface="Calibri"/>
              </a:rPr>
              <a:t>Implications for pricing and accessibility</a:t>
            </a:r>
          </a:p>
        </p:txBody>
      </p:sp>
      <p:pic>
        <p:nvPicPr>
          <p:cNvPr id="4" name="Picture 3" descr="Figure5_Fairness_Sustainability_Governance.png"/>
          <p:cNvPicPr>
            <a:picLocks noChangeAspect="1"/>
          </p:cNvPicPr>
          <p:nvPr/>
        </p:nvPicPr>
        <p:blipFill>
          <a:blip r:embed="rId3"/>
          <a:srcRect l="16270" r="14322" b="-2"/>
          <a:stretch>
            <a:fillRect/>
          </a:stretch>
        </p:blipFill>
        <p:spPr>
          <a:xfrm>
            <a:off x="3816932" y="877413"/>
            <a:ext cx="4666971" cy="504309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16932" y="5858828"/>
            <a:ext cx="4669847" cy="123363"/>
            <a:chOff x="7015162" y="5858828"/>
            <a:chExt cx="4300544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Calibri"/>
              </a:rPr>
              <a:t>Methods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>
                <a:latin typeface="Calibri"/>
              </a:rPr>
              <a:t>Dataset: trip-level records with time, locations, vehicle type, fares</a:t>
            </a:r>
          </a:p>
          <a:p>
            <a:r>
              <a:rPr lang="en-US" sz="1700">
                <a:latin typeface="Calibri"/>
              </a:rPr>
              <a:t>Tools: pandas, scikit-learn, gradient boosting, random forests</a:t>
            </a:r>
          </a:p>
          <a:p>
            <a:r>
              <a:rPr lang="en-US" sz="1700">
                <a:latin typeface="Calibri"/>
              </a:rPr>
              <a:t>Evaluation: MAE, RMSE, R-squared; visual diagnostics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Data Preprocessing Workflow (Figure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12529"/>
                </a:solidFill>
                <a:latin typeface="Calibri"/>
              </a:rPr>
              <a:t>Cleaning and type coercion</a:t>
            </a:r>
          </a:p>
          <a:p>
            <a:r>
              <a:rPr sz="2000">
                <a:solidFill>
                  <a:srgbClr val="212529"/>
                </a:solidFill>
                <a:latin typeface="Calibri"/>
              </a:rPr>
              <a:t>Handling missing values and duplicates</a:t>
            </a:r>
          </a:p>
          <a:p>
            <a:r>
              <a:rPr sz="2000">
                <a:solidFill>
                  <a:srgbClr val="212529"/>
                </a:solidFill>
                <a:latin typeface="Calibri"/>
              </a:rPr>
              <a:t>Output: cleaned dataset for feature generation</a:t>
            </a:r>
          </a:p>
        </p:txBody>
      </p:sp>
      <p:pic>
        <p:nvPicPr>
          <p:cNvPr id="4" name="Picture 3" descr="Figure7_Data_Preprocessing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69" y="3863181"/>
            <a:ext cx="8229600" cy="6052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>
                <a:solidFill>
                  <a:srgbClr val="14213D"/>
                </a:solidFill>
                <a:latin typeface="Calibri"/>
              </a:rPr>
              <a:t>Feature Engineering Pipeline (Figure 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>
                <a:solidFill>
                  <a:srgbClr val="212529"/>
                </a:solidFill>
                <a:latin typeface="Calibri"/>
              </a:rPr>
              <a:t>Fare per km, tip ratio, peak hour indicators</a:t>
            </a:r>
          </a:p>
          <a:p>
            <a:r>
              <a:rPr lang="en-US" sz="2000">
                <a:solidFill>
                  <a:srgbClr val="212529"/>
                </a:solidFill>
                <a:latin typeface="Calibri"/>
              </a:rPr>
              <a:t>Encodings for payment and day-of-week</a:t>
            </a:r>
          </a:p>
          <a:p>
            <a:r>
              <a:rPr lang="en-US" sz="2000">
                <a:solidFill>
                  <a:srgbClr val="212529"/>
                </a:solidFill>
                <a:latin typeface="Calibri"/>
              </a:rPr>
              <a:t>Final training matrix</a:t>
            </a:r>
          </a:p>
        </p:txBody>
      </p:sp>
      <p:pic>
        <p:nvPicPr>
          <p:cNvPr id="4" name="Picture 3" descr="Figure8_Feature_Engineerin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63181"/>
            <a:ext cx="8229600" cy="7202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14213D"/>
                </a:solidFill>
                <a:latin typeface="Calibri"/>
              </a:rPr>
              <a:t>Model Training and Evaluation (Figure 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12529"/>
                </a:solidFill>
                <a:latin typeface="Calibri"/>
              </a:rPr>
              <a:t>Baselines and advanced models</a:t>
            </a:r>
          </a:p>
          <a:p>
            <a:r>
              <a:rPr sz="2000">
                <a:solidFill>
                  <a:srgbClr val="212529"/>
                </a:solidFill>
                <a:latin typeface="Calibri"/>
              </a:rPr>
              <a:t>Train-test splits and validation</a:t>
            </a:r>
          </a:p>
          <a:p>
            <a:r>
              <a:rPr sz="2000">
                <a:solidFill>
                  <a:srgbClr val="212529"/>
                </a:solidFill>
                <a:latin typeface="Calibri"/>
              </a:rPr>
              <a:t>Performance metrics and logging</a:t>
            </a:r>
          </a:p>
        </p:txBody>
      </p:sp>
      <p:pic>
        <p:nvPicPr>
          <p:cNvPr id="4" name="Picture 3" descr="Figure9_Model_Training_Evaluation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39764"/>
            <a:ext cx="8229600" cy="7212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238" y="4230093"/>
            <a:ext cx="3112935" cy="1800165"/>
          </a:xfrm>
        </p:spPr>
        <p:txBody>
          <a:bodyPr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000" b="1">
                <a:latin typeface="Calibri"/>
              </a:rPr>
              <a:t>Dynamic Pricing System Architecture (Figure 4)</a:t>
            </a:r>
          </a:p>
        </p:txBody>
      </p:sp>
      <p:pic>
        <p:nvPicPr>
          <p:cNvPr id="4" name="Picture 3" descr="Figure4_Dynamic_Pricing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44" y="1025630"/>
            <a:ext cx="8354833" cy="231846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4811" y="4230094"/>
            <a:ext cx="4676451" cy="1800164"/>
          </a:xfrm>
        </p:spPr>
        <p:txBody>
          <a:bodyPr anchor="t">
            <a:normAutofit/>
          </a:bodyPr>
          <a:lstStyle/>
          <a:p>
            <a:r>
              <a:rPr lang="en-US" sz="1700">
                <a:latin typeface="Calibri"/>
              </a:rPr>
              <a:t>Demand prediction and driver availability</a:t>
            </a:r>
          </a:p>
          <a:p>
            <a:r>
              <a:rPr lang="en-US" sz="1700">
                <a:latin typeface="Calibri"/>
              </a:rPr>
              <a:t>Pricing feedback loops and constraints</a:t>
            </a:r>
          </a:p>
          <a:p>
            <a:r>
              <a:rPr lang="en-US" sz="1700">
                <a:latin typeface="Calibri"/>
              </a:rPr>
              <a:t>Operational alignment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238" y="4230093"/>
            <a:ext cx="3112935" cy="1800165"/>
          </a:xfrm>
        </p:spPr>
        <p:txBody>
          <a:bodyPr anchor="t">
            <a:normAutofit/>
          </a:bodyPr>
          <a:lstStyle/>
          <a:p>
            <a:pPr algn="r"/>
            <a:r>
              <a:rPr lang="en-US" sz="3500" b="1">
                <a:latin typeface="Calibri"/>
              </a:rPr>
              <a:t>Conceptual Framework (Figure 6)</a:t>
            </a:r>
          </a:p>
        </p:txBody>
      </p:sp>
      <p:pic>
        <p:nvPicPr>
          <p:cNvPr id="4" name="Picture 3" descr="Figure6_Conceptual_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652" y="457200"/>
            <a:ext cx="5618416" cy="345532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4811" y="4230094"/>
            <a:ext cx="4676451" cy="1800164"/>
          </a:xfrm>
        </p:spPr>
        <p:txBody>
          <a:bodyPr anchor="t">
            <a:normAutofit/>
          </a:bodyPr>
          <a:lstStyle/>
          <a:p>
            <a:r>
              <a:rPr lang="en-US" sz="1700">
                <a:latin typeface="Calibri"/>
              </a:rPr>
              <a:t>Integrated forecasting, revenue, and operations</a:t>
            </a:r>
          </a:p>
          <a:p>
            <a:r>
              <a:rPr lang="en-US" sz="1700">
                <a:latin typeface="Calibri"/>
              </a:rPr>
              <a:t>Data and feedback flows</a:t>
            </a:r>
          </a:p>
          <a:p>
            <a:r>
              <a:rPr lang="en-US" sz="1700">
                <a:latin typeface="Calibri"/>
              </a:rPr>
              <a:t>External factors influencing modules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Calibri"/>
              </a:rPr>
              <a:t>Results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02446A-E69D-8F54-DE40-75B43CCC53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86979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>
                <a:solidFill>
                  <a:srgbClr val="FFFFFF"/>
                </a:solidFill>
                <a:latin typeface="Calibri"/>
              </a:rPr>
              <a:t>Results: Hourly and Weekly Demand (Figure 11)</a:t>
            </a:r>
          </a:p>
        </p:txBody>
      </p:sp>
      <p:pic>
        <p:nvPicPr>
          <p:cNvPr id="4" name="Picture 3" descr="Figure11_Hourly_Weekly_Demand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040" y="402570"/>
            <a:ext cx="5185918" cy="321527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192" y="3833199"/>
            <a:ext cx="6249619" cy="1119982"/>
          </a:xfrm>
        </p:spPr>
        <p:txBody>
          <a:bodyPr anchor="ctr">
            <a:normAutofit/>
          </a:bodyPr>
          <a:lstStyle/>
          <a:p>
            <a:r>
              <a:rPr lang="en-US" sz="1700">
                <a:latin typeface="Calibri"/>
              </a:rPr>
              <a:t>Weekday peak patterns vs weekend distribution</a:t>
            </a:r>
          </a:p>
          <a:p>
            <a:r>
              <a:rPr lang="en-US" sz="1700">
                <a:latin typeface="Calibri"/>
              </a:rPr>
              <a:t>Implications for staffing and availability</a:t>
            </a:r>
          </a:p>
          <a:p>
            <a:r>
              <a:rPr lang="en-US" sz="1700">
                <a:latin typeface="Calibri"/>
              </a:rPr>
              <a:t>Variability and potential drivers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>
                <a:latin typeface="Calibri"/>
              </a:rPr>
              <a:t>Results: Model Performance and Features (Figure 10)</a:t>
            </a:r>
          </a:p>
        </p:txBody>
      </p:sp>
      <p:pic>
        <p:nvPicPr>
          <p:cNvPr id="4" name="Picture 3" descr="Figure10_Combined_Performance_And_Features.png"/>
          <p:cNvPicPr>
            <a:picLocks noChangeAspect="1"/>
          </p:cNvPicPr>
          <p:nvPr/>
        </p:nvPicPr>
        <p:blipFill>
          <a:blip r:embed="rId3"/>
          <a:srcRect b="32084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600">
                <a:latin typeface="Calibri"/>
              </a:rPr>
              <a:t>Comparative accuracy across models</a:t>
            </a:r>
          </a:p>
          <a:p>
            <a:r>
              <a:rPr lang="en-US" sz="1600">
                <a:latin typeface="Calibri"/>
              </a:rPr>
              <a:t>Feature importances and SHAP insights</a:t>
            </a:r>
          </a:p>
          <a:p>
            <a:r>
              <a:rPr lang="en-US" sz="1600">
                <a:latin typeface="Calibri"/>
              </a:rPr>
              <a:t>Interpretability and stability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 b="1">
                <a:latin typeface="Calibri"/>
              </a:rPr>
              <a:t>Results: Fare Prediction Comparison (Figure 12)</a:t>
            </a:r>
          </a:p>
        </p:txBody>
      </p:sp>
      <p:pic>
        <p:nvPicPr>
          <p:cNvPr id="4" name="Picture 3" descr="Figure12_Fare_Prediction_Comparison.png"/>
          <p:cNvPicPr>
            <a:picLocks noChangeAspect="1"/>
          </p:cNvPicPr>
          <p:nvPr/>
        </p:nvPicPr>
        <p:blipFill>
          <a:blip r:embed="rId3"/>
          <a:srcRect r="197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600">
                <a:latin typeface="Calibri"/>
              </a:rPr>
              <a:t>Error distribution across models</a:t>
            </a:r>
          </a:p>
          <a:p>
            <a:r>
              <a:rPr lang="en-US" sz="1600">
                <a:latin typeface="Calibri"/>
              </a:rPr>
              <a:t>Robustness to demand spikes</a:t>
            </a:r>
          </a:p>
          <a:p>
            <a:r>
              <a:rPr lang="en-US" sz="1600">
                <a:latin typeface="Calibri"/>
              </a:rPr>
              <a:t>Generalization considerations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>
                <a:solidFill>
                  <a:srgbClr val="FFFFFF"/>
                </a:solidFill>
                <a:latin typeface="Calibri"/>
              </a:rPr>
              <a:t>Results: Fulfillment and Cancellations (Figure 14)</a:t>
            </a:r>
          </a:p>
        </p:txBody>
      </p:sp>
      <p:pic>
        <p:nvPicPr>
          <p:cNvPr id="4" name="Picture 3" descr="Figure14_Demand_Fulfillment_Cancel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192" y="467387"/>
            <a:ext cx="6233615" cy="308563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192" y="3833199"/>
            <a:ext cx="6249619" cy="1119982"/>
          </a:xfrm>
        </p:spPr>
        <p:txBody>
          <a:bodyPr anchor="ctr">
            <a:normAutofit/>
          </a:bodyPr>
          <a:lstStyle/>
          <a:p>
            <a:r>
              <a:rPr lang="en-US" sz="1700">
                <a:latin typeface="Calibri"/>
              </a:rPr>
              <a:t>Service reliability by hour</a:t>
            </a:r>
          </a:p>
          <a:p>
            <a:r>
              <a:rPr lang="en-US" sz="1700">
                <a:latin typeface="Calibri"/>
              </a:rPr>
              <a:t>Driver and rider cancellation patterns</a:t>
            </a:r>
          </a:p>
          <a:p>
            <a:r>
              <a:rPr lang="en-US" sz="1700">
                <a:latin typeface="Calibri"/>
              </a:rPr>
              <a:t>Targets for mitigation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3719703" cy="1642969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b="1">
                <a:latin typeface="Calibri"/>
              </a:rPr>
              <a:t>Results: Regional Ride Flow (Figure 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418408"/>
            <a:ext cx="3719703" cy="3522569"/>
          </a:xfrm>
        </p:spPr>
        <p:txBody>
          <a:bodyPr anchor="t">
            <a:normAutofit/>
          </a:bodyPr>
          <a:lstStyle/>
          <a:p>
            <a:r>
              <a:rPr lang="en-US" sz="1700">
                <a:latin typeface="Calibri"/>
              </a:rPr>
              <a:t>Flows between central and peripheral zones</a:t>
            </a:r>
          </a:p>
          <a:p>
            <a:r>
              <a:rPr lang="en-US" sz="1700">
                <a:latin typeface="Calibri"/>
              </a:rPr>
              <a:t>Implications for repositioning and supply</a:t>
            </a:r>
          </a:p>
          <a:p>
            <a:r>
              <a:rPr lang="en-US" sz="1700">
                <a:latin typeface="Calibri"/>
              </a:rPr>
              <a:t>Equity and accessibility considerations</a:t>
            </a:r>
          </a:p>
        </p:txBody>
      </p:sp>
      <p:pic>
        <p:nvPicPr>
          <p:cNvPr id="4" name="Picture 3" descr="Figure15_Regional_Rid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331" y="1476528"/>
            <a:ext cx="3900767" cy="349118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238" y="4230093"/>
            <a:ext cx="3112935" cy="1800165"/>
          </a:xfrm>
        </p:spPr>
        <p:txBody>
          <a:bodyPr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000" b="1">
                <a:latin typeface="Calibri"/>
              </a:rPr>
              <a:t>Results: Surge and Pricing Patterns (Figure 13)</a:t>
            </a:r>
          </a:p>
        </p:txBody>
      </p:sp>
      <p:pic>
        <p:nvPicPr>
          <p:cNvPr id="4" name="Picture 3" descr="Figure13_Surge_Distribu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029" y="457200"/>
            <a:ext cx="5595662" cy="345532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4811" y="4230094"/>
            <a:ext cx="4676451" cy="1800164"/>
          </a:xfrm>
        </p:spPr>
        <p:txBody>
          <a:bodyPr anchor="t">
            <a:normAutofit/>
          </a:bodyPr>
          <a:lstStyle/>
          <a:p>
            <a:r>
              <a:rPr lang="en-US" sz="1700">
                <a:latin typeface="Calibri"/>
              </a:rPr>
              <a:t>Surge distribution across time and zones</a:t>
            </a:r>
          </a:p>
          <a:p>
            <a:r>
              <a:rPr lang="en-US" sz="1700">
                <a:latin typeface="Calibri"/>
              </a:rPr>
              <a:t>Elasticity and user abandonment thresholds</a:t>
            </a:r>
          </a:p>
          <a:p>
            <a:r>
              <a:rPr lang="en-US" sz="1700">
                <a:latin typeface="Calibri"/>
              </a:rPr>
              <a:t>Policy guardrails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238" y="4230093"/>
            <a:ext cx="3112935" cy="1800165"/>
          </a:xfrm>
        </p:spPr>
        <p:txBody>
          <a:bodyPr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000" b="1">
                <a:latin typeface="Calibri"/>
              </a:rPr>
              <a:t>Results: Emission Reduction Scenario (Figure 16)</a:t>
            </a:r>
          </a:p>
        </p:txBody>
      </p:sp>
      <p:pic>
        <p:nvPicPr>
          <p:cNvPr id="4" name="Picture 3" descr="Figure16_Emission_Red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225" y="457200"/>
            <a:ext cx="5807270" cy="345532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4811" y="4230094"/>
            <a:ext cx="4676451" cy="1800164"/>
          </a:xfrm>
        </p:spPr>
        <p:txBody>
          <a:bodyPr anchor="t">
            <a:normAutofit/>
          </a:bodyPr>
          <a:lstStyle/>
          <a:p>
            <a:r>
              <a:rPr lang="en-US" sz="1700">
                <a:latin typeface="Calibri"/>
              </a:rPr>
              <a:t>Idle time and pooling impacts</a:t>
            </a:r>
          </a:p>
          <a:p>
            <a:r>
              <a:rPr lang="en-US" sz="1700">
                <a:latin typeface="Calibri"/>
              </a:rPr>
              <a:t>EV scheduling implications</a:t>
            </a:r>
          </a:p>
          <a:p>
            <a:r>
              <a:rPr lang="en-US" sz="1700">
                <a:latin typeface="Calibri"/>
              </a:rPr>
              <a:t>Co-benefits and trade-offs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b="1">
                <a:latin typeface="Calibri"/>
              </a:rP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>
                <a:latin typeface="Calibri"/>
              </a:rPr>
              <a:t>How results support or qualify the hypothesis</a:t>
            </a:r>
          </a:p>
          <a:p>
            <a:r>
              <a:rPr lang="en-US" sz="1700">
                <a:latin typeface="Calibri"/>
              </a:rPr>
              <a:t>Operational and policy implications</a:t>
            </a:r>
          </a:p>
          <a:p>
            <a:r>
              <a:rPr lang="en-US" sz="1700">
                <a:latin typeface="Calibri"/>
              </a:rPr>
              <a:t>Limitations and interpretability considerations</a:t>
            </a:r>
          </a:p>
        </p:txBody>
      </p:sp>
      <p:pic>
        <p:nvPicPr>
          <p:cNvPr id="5" name="Picture 4" descr="Different colored question marks">
            <a:extLst>
              <a:ext uri="{FF2B5EF4-FFF2-40B4-BE49-F238E27FC236}">
                <a16:creationId xmlns:a16="http://schemas.microsoft.com/office/drawing/2014/main" id="{2A573C02-25CA-B87B-A2BD-AEA22F6791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36" r="3292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B0288A-8772-8FAC-2B9D-04CED11DFB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86009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F8809D-F275-7D97-3060-2987A751F9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47206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Calibri"/>
              </a:rPr>
              <a:t>Questions and Answers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16CB8E8C-D360-1062-C9AF-B0B7EFF5C6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54792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877</Words>
  <Application>Microsoft Macintosh PowerPoint</Application>
  <PresentationFormat>On-screen Show (4:3)</PresentationFormat>
  <Paragraphs>128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Machine Learning-Based Forecasting of Ride-Hailing Demand, Revenue, and Operations: A Case Study of Delhi NCR, India</vt:lpstr>
      <vt:lpstr>Agenda</vt:lpstr>
      <vt:lpstr>Background: Ride-Hailing in Delhi NCR</vt:lpstr>
      <vt:lpstr>Project Workflow Overview (Figure 2)</vt:lpstr>
      <vt:lpstr>Hypothesis and Research Questions</vt:lpstr>
      <vt:lpstr>Literature Review: Forecasting Models</vt:lpstr>
      <vt:lpstr>Literature Review: Fairness and Governance</vt:lpstr>
      <vt:lpstr>Methods Overview</vt:lpstr>
      <vt:lpstr>Data Preprocessing Workflow (Figure 7)</vt:lpstr>
      <vt:lpstr>Feature Engineering Pipeline (Figure 8)</vt:lpstr>
      <vt:lpstr>Model Training and Evaluation (Figure 9)</vt:lpstr>
      <vt:lpstr>Dynamic Pricing System Architecture (Figure 4)</vt:lpstr>
      <vt:lpstr>Conceptual Framework (Figure 6)</vt:lpstr>
      <vt:lpstr>Results Overview</vt:lpstr>
      <vt:lpstr>Results: Hourly and Weekly Demand (Figure 11)</vt:lpstr>
      <vt:lpstr>Results: Model Performance and Features (Figure 10)</vt:lpstr>
      <vt:lpstr>Results: Fare Prediction Comparison (Figure 12)</vt:lpstr>
      <vt:lpstr>Results: Fulfillment and Cancellations (Figure 14)</vt:lpstr>
      <vt:lpstr>Results: Regional Ride Flow (Figure 15)</vt:lpstr>
      <vt:lpstr>Results: Surge and Pricing Patterns (Figure 13)</vt:lpstr>
      <vt:lpstr>Results: Emission Reduction Scenario (Figure 16)</vt:lpstr>
      <vt:lpstr>Discussion</vt:lpstr>
      <vt:lpstr>Conclusion</vt:lpstr>
      <vt:lpstr>Future Work</vt:lpstr>
      <vt:lpstr>Questions and Answers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Sandeep Kang</cp:lastModifiedBy>
  <cp:revision>2</cp:revision>
  <dcterms:created xsi:type="dcterms:W3CDTF">2013-01-27T09:14:16Z</dcterms:created>
  <dcterms:modified xsi:type="dcterms:W3CDTF">2025-10-28T02:26:15Z</dcterms:modified>
  <cp:category/>
</cp:coreProperties>
</file>