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85"/>
  </p:normalViewPr>
  <p:slideViewPr>
    <p:cSldViewPr snapToGrid="0" snapToObjects="1">
      <p:cViewPr varScale="1">
        <p:scale>
          <a:sx n="117" d="100"/>
          <a:sy n="117" d="100"/>
        </p:scale>
        <p:origin x="784"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330703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to my thesis presentation on Machine Learning-Based Forecasting and Optimization of Ride-Hailing Operations in Delhi NCR. My name is Sandeep Kang, and this research was completed under the supervision of Dr. Sridhar Ramachandran at Indiana University Indianapolis.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this presentation, I will cover the motivation, literature review, methodology, key results, and implications of my research. The goal is to understand how machine learning can enhance demand forecasting and operational efficiency in ride-hailing systems.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Ride-hailing has become central to modern mobility, enabling efficient urban travel while creating new challenges in demand prediction and service management.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Delhi NCR experiences severe congestion and uneven ride distribution. My study addresses how predictive models can balance this supply-demand mismatch.</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Data-driven systems enable smarter transport management. Machine learning helps uncover demand patterns and support dynamic pricing and fleet optimization.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aim is to build an integrated predictive framework for forecasting, pricing, and operational analytics. The hypothesis is that machine learning models can optimize operations sustainably.</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Prior studies started with traditional models like ARIMA, which struggled to handle nonlinear demand patterns. Deep learning methods like LSTM and Transformer improved forecasting accuracy.</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Revenue modeling studies have explored dynamic pricing but often ignored fairness. This research builds on those methods to ensure equitable fare strategies.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Operational analytics has advanced with reinforcement learning and real-time optimization, but integration with demand forecasting is still limited.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Fairness and sustainability are emerging as vital factors in algorithmic decision-making. Models must balance profit, accessibility, and environmental impact.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major gap in literature is the lack of integrated frameworks combining demand, revenue, and operations under fairness and transparency principles.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conceptual framework guiding this study. It integrates forecasting, revenue, and operations modules with external factors like policy and fairness.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dataset consists of over 1.2 million trip records from Delhi NCR, containing time, location, fare, and driver details.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analyses were performed using Python, TensorFlow, and scikit-learn, with SHAP for model interpretability.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figure shows the preprocessing pipeline—how missing data, outliers, and normalization steps were handled.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Feature engineering derived temporal, spatial, and contextual features, improving model performance.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machine learning pipeline included model training, validation, and interpretability assessment.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Evaluation metrics included MAE, RMSE, and R², along with SHAP to explain model decisions.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workflow followed an eight-week iterative structure, ensuring reproducibility and steady progress.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Model comparisons revealed that Transformer and XGBoost models achieved the lowest error rates in forecasting.</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Temporal demand analysis showed predictable morning and evening peaks, helping inform dynamic driver allocation.</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Fare prediction models produced high accuracy, enabling data-driven pricing and revenue optimization.</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Spatial analysis revealed surge pricing clusters around business and entertainment hubs.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Fulfillment efficiency improved through predictive reallocation, reducing 'No Driver Found' cases.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Fleet utilization mapping revealed under-served regions and guided future rebalancing strategies.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Optimized models achieved a 9% reduction in CO₂ emissions by minimizing idle driving time.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Fairness-aware algorithms improved service equity across Delhi NCR zones by 12%.</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Model interpretability through SHAP helped identify the most influential features in predictions.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findings align with existing studies but extend them by focusing on fairness and scalability in an Indian context.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framework demonstrates that machine learning supports real-time decision-making and equitable mobility planning.</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key findings include improved demand forecasting, better fare prediction, and optimized fleet allocation.</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models achieved high accuracy, increased fairness, and reduced emissions without compromising profitability.</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Limitations include region-specific calibration and data coverage. Future research could expand spatial modeling and fairness testing.</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Explainable AI tools like SHAP and LIME increase transparency, ensuring ethical and accountable modeling.</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Integrating real-time IoT and traffic data can further improve adaptive forecasting and dynamic decision systems.</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Testing across cities such as Mumbai and Bengaluru will validate scalability and generalizability.</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Governance frameworks and fairness audits are essential for aligning AI systems with public policy objectives.</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 summary, this research shows that machine learning can create sustainable, fair, and efficient mobility solutions.</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would like to thank my advisor, Dr. Sridhar Ramachandran, and Indiana University Indianapolis for their guidance and support.</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for listening. Please refer to the listed references for all academic sources cited in this presentation.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11/11/25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11/11/25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11/11/25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11/11/25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11/11/25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11/11/25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11/11/25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11/11/25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11/11/25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11/11/25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11/11/25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11/11/25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Title Slide</a:t>
            </a:r>
          </a:p>
        </p:txBody>
      </p:sp>
      <p:sp>
        <p:nvSpPr>
          <p:cNvPr id="3" name="Content Placeholder 2"/>
          <p:cNvSpPr>
            <a:spLocks noGrp="1"/>
          </p:cNvSpPr>
          <p:nvPr>
            <p:ph idx="1"/>
          </p:nvPr>
        </p:nvSpPr>
        <p:spPr>
          <a:xfrm>
            <a:off x="457200" y="1417638"/>
            <a:ext cx="8229600" cy="4525963"/>
          </a:xfrm>
        </p:spPr>
        <p:txBody>
          <a:bodyPr>
            <a:normAutofit fontScale="92500" lnSpcReduction="10000"/>
          </a:bodyPr>
          <a:lstStyle/>
          <a:p>
            <a:r>
              <a:rPr dirty="0"/>
              <a:t>Machine Learning-Based Forecasting and Optimization of Ride-Hailing Operations in Delhi NCR</a:t>
            </a:r>
          </a:p>
          <a:p>
            <a:endParaRPr dirty="0"/>
          </a:p>
          <a:p>
            <a:r>
              <a:rPr dirty="0"/>
              <a:t>Name: </a:t>
            </a:r>
            <a:r>
              <a:rPr lang="en-US" dirty="0"/>
              <a:t>Sandeep Kang</a:t>
            </a:r>
            <a:endParaRPr dirty="0"/>
          </a:p>
          <a:p>
            <a:r>
              <a:rPr dirty="0"/>
              <a:t>Institution: </a:t>
            </a:r>
            <a:r>
              <a:rPr lang="en-US" dirty="0"/>
              <a:t>Indiana University Indianapolis</a:t>
            </a:r>
          </a:p>
          <a:p>
            <a:r>
              <a:rPr dirty="0"/>
              <a:t>Course: </a:t>
            </a:r>
            <a:r>
              <a:rPr lang="en-US" dirty="0"/>
              <a:t>INFO-I 492 Senior Thesis Capstone</a:t>
            </a:r>
          </a:p>
          <a:p>
            <a:r>
              <a:rPr lang="en-US" dirty="0"/>
              <a:t>Advisor: Dr. Sridhar Ramachandran</a:t>
            </a:r>
          </a:p>
          <a:p>
            <a:r>
              <a:rPr dirty="0"/>
              <a:t>Date</a:t>
            </a:r>
            <a:r>
              <a:t>: </a:t>
            </a:r>
            <a:r>
              <a:rPr lang="en-US"/>
              <a:t>December 11, 2025</a:t>
            </a:r>
          </a:p>
          <a:p>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Presentation Overview</a:t>
            </a:r>
          </a:p>
        </p:txBody>
      </p:sp>
      <p:sp>
        <p:nvSpPr>
          <p:cNvPr id="3" name="Content Placeholder 2"/>
          <p:cNvSpPr>
            <a:spLocks noGrp="1"/>
          </p:cNvSpPr>
          <p:nvPr>
            <p:ph idx="1"/>
          </p:nvPr>
        </p:nvSpPr>
        <p:spPr/>
        <p:txBody>
          <a:bodyPr/>
          <a:lstStyle/>
          <a:p>
            <a:r>
              <a:t>Outline of research structure, goals, and presentation flow.</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Ride-Hailing Matters</a:t>
            </a:r>
          </a:p>
        </p:txBody>
      </p:sp>
      <p:sp>
        <p:nvSpPr>
          <p:cNvPr id="3" name="Content Placeholder 2"/>
          <p:cNvSpPr>
            <a:spLocks noGrp="1"/>
          </p:cNvSpPr>
          <p:nvPr>
            <p:ph idx="1"/>
          </p:nvPr>
        </p:nvSpPr>
        <p:spPr/>
        <p:txBody>
          <a:bodyPr/>
          <a:lstStyle/>
          <a:p>
            <a:r>
              <a:t>Ride-hailing platforms and their role in modern urban transportation systems.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Problem in Delhi NCR</a:t>
            </a:r>
          </a:p>
        </p:txBody>
      </p:sp>
      <p:sp>
        <p:nvSpPr>
          <p:cNvPr id="3" name="Content Placeholder 2"/>
          <p:cNvSpPr>
            <a:spLocks noGrp="1"/>
          </p:cNvSpPr>
          <p:nvPr>
            <p:ph idx="1"/>
          </p:nvPr>
        </p:nvSpPr>
        <p:spPr/>
        <p:txBody>
          <a:bodyPr/>
          <a:lstStyle/>
          <a:p>
            <a:r>
              <a:t>Issues of congestion, demand imbalance, and emission challenges in Delhi NCR.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Data-Driven Mobility</a:t>
            </a:r>
          </a:p>
        </p:txBody>
      </p:sp>
      <p:sp>
        <p:nvSpPr>
          <p:cNvPr id="3" name="Content Placeholder 2"/>
          <p:cNvSpPr>
            <a:spLocks noGrp="1"/>
          </p:cNvSpPr>
          <p:nvPr>
            <p:ph idx="1"/>
          </p:nvPr>
        </p:nvSpPr>
        <p:spPr/>
        <p:txBody>
          <a:bodyPr/>
          <a:lstStyle/>
          <a:p>
            <a:r>
              <a:t>How machine learning enhances prediction, planning, and policy in mobility.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Research Aim and Hypothesis</a:t>
            </a:r>
          </a:p>
        </p:txBody>
      </p:sp>
      <p:sp>
        <p:nvSpPr>
          <p:cNvPr id="3" name="Content Placeholder 2"/>
          <p:cNvSpPr>
            <a:spLocks noGrp="1"/>
          </p:cNvSpPr>
          <p:nvPr>
            <p:ph idx="1"/>
          </p:nvPr>
        </p:nvSpPr>
        <p:spPr/>
        <p:txBody>
          <a:bodyPr/>
          <a:lstStyle/>
          <a:p>
            <a:r>
              <a:t>Aim: To integrate forecasting, pricing, and fairness modeling.</a:t>
            </a:r>
          </a:p>
          <a:p>
            <a:r>
              <a:t>Hypothesis: Data-driven ML systems improve efficiency and sustainability.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Demand Forecasting Research</a:t>
            </a:r>
          </a:p>
        </p:txBody>
      </p:sp>
      <p:sp>
        <p:nvSpPr>
          <p:cNvPr id="3" name="Content Placeholder 2"/>
          <p:cNvSpPr>
            <a:spLocks noGrp="1"/>
          </p:cNvSpPr>
          <p:nvPr>
            <p:ph idx="1"/>
          </p:nvPr>
        </p:nvSpPr>
        <p:spPr/>
        <p:txBody>
          <a:bodyPr/>
          <a:lstStyle/>
          <a:p>
            <a:r>
              <a:t>Evolution from ARIMA to LSTM and Transformer architectures in demand forecasting.</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Revenue and Pricing Studies</a:t>
            </a:r>
          </a:p>
        </p:txBody>
      </p:sp>
      <p:sp>
        <p:nvSpPr>
          <p:cNvPr id="3" name="Content Placeholder 2"/>
          <p:cNvSpPr>
            <a:spLocks noGrp="1"/>
          </p:cNvSpPr>
          <p:nvPr>
            <p:ph idx="1"/>
          </p:nvPr>
        </p:nvSpPr>
        <p:spPr/>
        <p:txBody>
          <a:bodyPr/>
          <a:lstStyle/>
          <a:p>
            <a:r>
              <a:t>Dynamic pricing methods and fairness implications in ride-hailing models.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Operational Analytics Insights</a:t>
            </a:r>
          </a:p>
        </p:txBody>
      </p:sp>
      <p:sp>
        <p:nvSpPr>
          <p:cNvPr id="3" name="Content Placeholder 2"/>
          <p:cNvSpPr>
            <a:spLocks noGrp="1"/>
          </p:cNvSpPr>
          <p:nvPr>
            <p:ph idx="1"/>
          </p:nvPr>
        </p:nvSpPr>
        <p:spPr/>
        <p:txBody>
          <a:bodyPr/>
          <a:lstStyle/>
          <a:p>
            <a:r>
              <a:t>Driver behavior modeling, rebalancing, and predictive fleet optimization.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Fairness and Sustainability Literature</a:t>
            </a:r>
          </a:p>
        </p:txBody>
      </p:sp>
      <p:sp>
        <p:nvSpPr>
          <p:cNvPr id="3" name="Content Placeholder 2"/>
          <p:cNvSpPr>
            <a:spLocks noGrp="1"/>
          </p:cNvSpPr>
          <p:nvPr>
            <p:ph idx="1"/>
          </p:nvPr>
        </p:nvSpPr>
        <p:spPr/>
        <p:txBody>
          <a:bodyPr/>
          <a:lstStyle/>
          <a:p>
            <a:r>
              <a:t>Algorithmic fairness, equity constraints, and emission reduction strategies.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Identified Gaps in Literature</a:t>
            </a:r>
          </a:p>
        </p:txBody>
      </p:sp>
      <p:sp>
        <p:nvSpPr>
          <p:cNvPr id="3" name="Content Placeholder 2"/>
          <p:cNvSpPr>
            <a:spLocks noGrp="1"/>
          </p:cNvSpPr>
          <p:nvPr>
            <p:ph idx="1"/>
          </p:nvPr>
        </p:nvSpPr>
        <p:spPr/>
        <p:txBody>
          <a:bodyPr/>
          <a:lstStyle/>
          <a:p>
            <a:r>
              <a:t>Limited model interpretability and integration across forecasting and operations.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Conceptual Framework</a:t>
            </a:r>
          </a:p>
        </p:txBody>
      </p:sp>
      <p:sp>
        <p:nvSpPr>
          <p:cNvPr id="3" name="Content Placeholder 2"/>
          <p:cNvSpPr>
            <a:spLocks noGrp="1"/>
          </p:cNvSpPr>
          <p:nvPr>
            <p:ph idx="1"/>
          </p:nvPr>
        </p:nvSpPr>
        <p:spPr/>
        <p:txBody>
          <a:bodyPr/>
          <a:lstStyle/>
          <a:p>
            <a:r>
              <a:t>Proposed integrated analytical framework (see Figure 6).</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 Overview</a:t>
            </a:r>
          </a:p>
        </p:txBody>
      </p:sp>
      <p:sp>
        <p:nvSpPr>
          <p:cNvPr id="3" name="Content Placeholder 2"/>
          <p:cNvSpPr>
            <a:spLocks noGrp="1"/>
          </p:cNvSpPr>
          <p:nvPr>
            <p:ph idx="1"/>
          </p:nvPr>
        </p:nvSpPr>
        <p:spPr/>
        <p:txBody>
          <a:bodyPr/>
          <a:lstStyle/>
          <a:p>
            <a:r>
              <a:t>Trip-level dataset with timestamps, pickup/drop locations, fares, and driver data.</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Tools and Environment</a:t>
            </a:r>
          </a:p>
        </p:txBody>
      </p:sp>
      <p:sp>
        <p:nvSpPr>
          <p:cNvPr id="3" name="Content Placeholder 2"/>
          <p:cNvSpPr>
            <a:spLocks noGrp="1"/>
          </p:cNvSpPr>
          <p:nvPr>
            <p:ph idx="1"/>
          </p:nvPr>
        </p:nvSpPr>
        <p:spPr/>
        <p:txBody>
          <a:bodyPr/>
          <a:lstStyle/>
          <a:p>
            <a:r>
              <a:t>Python, TensorFlow, scikit-learn, and visualization libraries used.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 Cleaning Workflow</a:t>
            </a:r>
          </a:p>
        </p:txBody>
      </p:sp>
      <p:sp>
        <p:nvSpPr>
          <p:cNvPr id="3" name="Content Placeholder 2"/>
          <p:cNvSpPr>
            <a:spLocks noGrp="1"/>
          </p:cNvSpPr>
          <p:nvPr>
            <p:ph idx="1"/>
          </p:nvPr>
        </p:nvSpPr>
        <p:spPr/>
        <p:txBody>
          <a:bodyPr/>
          <a:lstStyle/>
          <a:p>
            <a:r>
              <a:t>Outline of preprocessing pipeline (Figure 7).</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Feature Engineering Process</a:t>
            </a:r>
          </a:p>
        </p:txBody>
      </p:sp>
      <p:sp>
        <p:nvSpPr>
          <p:cNvPr id="3" name="Content Placeholder 2"/>
          <p:cNvSpPr>
            <a:spLocks noGrp="1"/>
          </p:cNvSpPr>
          <p:nvPr>
            <p:ph idx="1"/>
          </p:nvPr>
        </p:nvSpPr>
        <p:spPr/>
        <p:txBody>
          <a:bodyPr/>
          <a:lstStyle/>
          <a:p>
            <a:r>
              <a:t>Temporal, spatial, and categorical variable transformations (Figure 8).</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Modeling Pipeline</a:t>
            </a:r>
          </a:p>
        </p:txBody>
      </p:sp>
      <p:sp>
        <p:nvSpPr>
          <p:cNvPr id="3" name="Content Placeholder 2"/>
          <p:cNvSpPr>
            <a:spLocks noGrp="1"/>
          </p:cNvSpPr>
          <p:nvPr>
            <p:ph idx="1"/>
          </p:nvPr>
        </p:nvSpPr>
        <p:spPr/>
        <p:txBody>
          <a:bodyPr/>
          <a:lstStyle/>
          <a:p>
            <a:r>
              <a:t>Machine learning architecture for demand and revenue modeling (Figure 9).</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Evaluation Metrics</a:t>
            </a:r>
          </a:p>
        </p:txBody>
      </p:sp>
      <p:sp>
        <p:nvSpPr>
          <p:cNvPr id="3" name="Content Placeholder 2"/>
          <p:cNvSpPr>
            <a:spLocks noGrp="1"/>
          </p:cNvSpPr>
          <p:nvPr>
            <p:ph idx="1"/>
          </p:nvPr>
        </p:nvSpPr>
        <p:spPr/>
        <p:txBody>
          <a:bodyPr/>
          <a:lstStyle/>
          <a:p>
            <a:r>
              <a:t>Metrics used: MAE, RMSE, R², and SHAP-based interpretability.</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Workflow Summary</a:t>
            </a:r>
          </a:p>
        </p:txBody>
      </p:sp>
      <p:sp>
        <p:nvSpPr>
          <p:cNvPr id="3" name="Content Placeholder 2"/>
          <p:cNvSpPr>
            <a:spLocks noGrp="1"/>
          </p:cNvSpPr>
          <p:nvPr>
            <p:ph idx="1"/>
          </p:nvPr>
        </p:nvSpPr>
        <p:spPr/>
        <p:txBody>
          <a:bodyPr/>
          <a:lstStyle/>
          <a:p>
            <a:r>
              <a:t>Overview of 8-week iterative pipeline from preprocessing to evaluation.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Forecasting Model Comparison</a:t>
            </a:r>
          </a:p>
        </p:txBody>
      </p:sp>
      <p:sp>
        <p:nvSpPr>
          <p:cNvPr id="3" name="Content Placeholder 2"/>
          <p:cNvSpPr>
            <a:spLocks noGrp="1"/>
          </p:cNvSpPr>
          <p:nvPr>
            <p:ph idx="1"/>
          </p:nvPr>
        </p:nvSpPr>
        <p:spPr/>
        <p:txBody>
          <a:bodyPr/>
          <a:lstStyle/>
          <a:p>
            <a:r>
              <a:t>Model performance comparison between Random Forest, XGBoost, and Transformer (Figure 10).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Temporal Demand Patterns</a:t>
            </a:r>
          </a:p>
        </p:txBody>
      </p:sp>
      <p:sp>
        <p:nvSpPr>
          <p:cNvPr id="3" name="Content Placeholder 2"/>
          <p:cNvSpPr>
            <a:spLocks noGrp="1"/>
          </p:cNvSpPr>
          <p:nvPr>
            <p:ph idx="1"/>
          </p:nvPr>
        </p:nvSpPr>
        <p:spPr/>
        <p:txBody>
          <a:bodyPr/>
          <a:lstStyle/>
          <a:p>
            <a:r>
              <a:t>Hourly and weekly ride demand visualization (Figure 11).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Fare Prediction Accuracy</a:t>
            </a:r>
          </a:p>
        </p:txBody>
      </p:sp>
      <p:sp>
        <p:nvSpPr>
          <p:cNvPr id="3" name="Content Placeholder 2"/>
          <p:cNvSpPr>
            <a:spLocks noGrp="1"/>
          </p:cNvSpPr>
          <p:nvPr>
            <p:ph idx="1"/>
          </p:nvPr>
        </p:nvSpPr>
        <p:spPr/>
        <p:txBody>
          <a:bodyPr/>
          <a:lstStyle/>
          <a:p>
            <a:r>
              <a:t>Comparison of model accuracy for fare prediction (Figure 12).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Surge Pricing Distribution</a:t>
            </a:r>
          </a:p>
        </p:txBody>
      </p:sp>
      <p:sp>
        <p:nvSpPr>
          <p:cNvPr id="3" name="Content Placeholder 2"/>
          <p:cNvSpPr>
            <a:spLocks noGrp="1"/>
          </p:cNvSpPr>
          <p:nvPr>
            <p:ph idx="1"/>
          </p:nvPr>
        </p:nvSpPr>
        <p:spPr/>
        <p:txBody>
          <a:bodyPr/>
          <a:lstStyle/>
          <a:p>
            <a:r>
              <a:t>Geospatial surge pricing pattern analysis (Figure 13).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Service Fulfillment and Cancellations</a:t>
            </a:r>
          </a:p>
        </p:txBody>
      </p:sp>
      <p:sp>
        <p:nvSpPr>
          <p:cNvPr id="3" name="Content Placeholder 2"/>
          <p:cNvSpPr>
            <a:spLocks noGrp="1"/>
          </p:cNvSpPr>
          <p:nvPr>
            <p:ph idx="1"/>
          </p:nvPr>
        </p:nvSpPr>
        <p:spPr/>
        <p:txBody>
          <a:bodyPr/>
          <a:lstStyle/>
          <a:p>
            <a:r>
              <a:t>Fulfillment efficiency and cancellation trends (Figure 14).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Fleet Utilization and Regional Flow</a:t>
            </a:r>
          </a:p>
        </p:txBody>
      </p:sp>
      <p:sp>
        <p:nvSpPr>
          <p:cNvPr id="3" name="Content Placeholder 2"/>
          <p:cNvSpPr>
            <a:spLocks noGrp="1"/>
          </p:cNvSpPr>
          <p:nvPr>
            <p:ph idx="1"/>
          </p:nvPr>
        </p:nvSpPr>
        <p:spPr/>
        <p:txBody>
          <a:bodyPr/>
          <a:lstStyle/>
          <a:p>
            <a:r>
              <a:t>Ride flow and fleet rebalancing analysis (Figure 15).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Emission Reduction Outcomes</a:t>
            </a:r>
          </a:p>
        </p:txBody>
      </p:sp>
      <p:sp>
        <p:nvSpPr>
          <p:cNvPr id="3" name="Content Placeholder 2"/>
          <p:cNvSpPr>
            <a:spLocks noGrp="1"/>
          </p:cNvSpPr>
          <p:nvPr>
            <p:ph idx="1"/>
          </p:nvPr>
        </p:nvSpPr>
        <p:spPr/>
        <p:txBody>
          <a:bodyPr/>
          <a:lstStyle/>
          <a:p>
            <a:r>
              <a:t>Emission reduction following optimization (Figure 16).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Equity and Coverage Improvement</a:t>
            </a:r>
          </a:p>
        </p:txBody>
      </p:sp>
      <p:sp>
        <p:nvSpPr>
          <p:cNvPr id="3" name="Content Placeholder 2"/>
          <p:cNvSpPr>
            <a:spLocks noGrp="1"/>
          </p:cNvSpPr>
          <p:nvPr>
            <p:ph idx="1"/>
          </p:nvPr>
        </p:nvSpPr>
        <p:spPr/>
        <p:txBody>
          <a:bodyPr/>
          <a:lstStyle/>
          <a:p>
            <a:r>
              <a:t>Balanced service coverage and accessibility improvements across zones.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Interpreting Model Results</a:t>
            </a:r>
          </a:p>
        </p:txBody>
      </p:sp>
      <p:sp>
        <p:nvSpPr>
          <p:cNvPr id="3" name="Content Placeholder 2"/>
          <p:cNvSpPr>
            <a:spLocks noGrp="1"/>
          </p:cNvSpPr>
          <p:nvPr>
            <p:ph idx="1"/>
          </p:nvPr>
        </p:nvSpPr>
        <p:spPr/>
        <p:txBody>
          <a:bodyPr/>
          <a:lstStyle/>
          <a:p>
            <a:r>
              <a:t>Interpretation of model outputs and operational insights.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Comparison with Past Studies</a:t>
            </a:r>
          </a:p>
        </p:txBody>
      </p:sp>
      <p:sp>
        <p:nvSpPr>
          <p:cNvPr id="3" name="Content Placeholder 2"/>
          <p:cNvSpPr>
            <a:spLocks noGrp="1"/>
          </p:cNvSpPr>
          <p:nvPr>
            <p:ph idx="1"/>
          </p:nvPr>
        </p:nvSpPr>
        <p:spPr/>
        <p:txBody>
          <a:bodyPr/>
          <a:lstStyle/>
          <a:p>
            <a:r>
              <a:t>Correlation with Guo et al. (2024), Zhao et al. (2022), and Zhou et al. (2025).</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t>Implications for Ride-Hailing Systems</a:t>
            </a:r>
          </a:p>
        </p:txBody>
      </p:sp>
      <p:sp>
        <p:nvSpPr>
          <p:cNvPr id="3" name="Content Placeholder 2"/>
          <p:cNvSpPr>
            <a:spLocks noGrp="1"/>
          </p:cNvSpPr>
          <p:nvPr>
            <p:ph idx="1"/>
          </p:nvPr>
        </p:nvSpPr>
        <p:spPr/>
        <p:txBody>
          <a:bodyPr/>
          <a:lstStyle/>
          <a:p>
            <a:r>
              <a:t>Practical and policy-oriented implications of predictive systems.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Summary of Findings</a:t>
            </a:r>
          </a:p>
        </p:txBody>
      </p:sp>
      <p:sp>
        <p:nvSpPr>
          <p:cNvPr id="3" name="Content Placeholder 2"/>
          <p:cNvSpPr>
            <a:spLocks noGrp="1"/>
          </p:cNvSpPr>
          <p:nvPr>
            <p:ph idx="1"/>
          </p:nvPr>
        </p:nvSpPr>
        <p:spPr/>
        <p:txBody>
          <a:bodyPr/>
          <a:lstStyle/>
          <a:p>
            <a:r>
              <a:t>Forecasting accuracy, fairness, and sustainability improvements summarized.</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Key Achievements</a:t>
            </a:r>
          </a:p>
        </p:txBody>
      </p:sp>
      <p:sp>
        <p:nvSpPr>
          <p:cNvPr id="3" name="Content Placeholder 2"/>
          <p:cNvSpPr>
            <a:spLocks noGrp="1"/>
          </p:cNvSpPr>
          <p:nvPr>
            <p:ph idx="1"/>
          </p:nvPr>
        </p:nvSpPr>
        <p:spPr/>
        <p:txBody>
          <a:bodyPr/>
          <a:lstStyle/>
          <a:p>
            <a:r>
              <a:t>12% fairness gain, 9% emission reduction, and improved service efficiency.</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Limitations</a:t>
            </a:r>
          </a:p>
        </p:txBody>
      </p:sp>
      <p:sp>
        <p:nvSpPr>
          <p:cNvPr id="3" name="Content Placeholder 2"/>
          <p:cNvSpPr>
            <a:spLocks noGrp="1"/>
          </p:cNvSpPr>
          <p:nvPr>
            <p:ph idx="1"/>
          </p:nvPr>
        </p:nvSpPr>
        <p:spPr/>
        <p:txBody>
          <a:bodyPr/>
          <a:lstStyle/>
          <a:p>
            <a:r>
              <a:t>Data scope, geographic generalization, and interpretability limitations.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Explainable AI in Mobility</a:t>
            </a:r>
          </a:p>
        </p:txBody>
      </p:sp>
      <p:sp>
        <p:nvSpPr>
          <p:cNvPr id="3" name="Content Placeholder 2"/>
          <p:cNvSpPr>
            <a:spLocks noGrp="1"/>
          </p:cNvSpPr>
          <p:nvPr>
            <p:ph idx="1"/>
          </p:nvPr>
        </p:nvSpPr>
        <p:spPr/>
        <p:txBody>
          <a:bodyPr/>
          <a:lstStyle/>
          <a:p>
            <a:r>
              <a:t>Use of SHAP and LIME for transparency and accountability in ML models.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Integration with Real-Time Data</a:t>
            </a:r>
          </a:p>
        </p:txBody>
      </p:sp>
      <p:sp>
        <p:nvSpPr>
          <p:cNvPr id="3" name="Content Placeholder 2"/>
          <p:cNvSpPr>
            <a:spLocks noGrp="1"/>
          </p:cNvSpPr>
          <p:nvPr>
            <p:ph idx="1"/>
          </p:nvPr>
        </p:nvSpPr>
        <p:spPr/>
        <p:txBody>
          <a:bodyPr/>
          <a:lstStyle/>
          <a:p>
            <a:r>
              <a:t>Integrating IoT, GPS, and live traffic data for real-time optimization.</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Scalability and Cross-City Testing</a:t>
            </a:r>
          </a:p>
        </p:txBody>
      </p:sp>
      <p:sp>
        <p:nvSpPr>
          <p:cNvPr id="3" name="Content Placeholder 2"/>
          <p:cNvSpPr>
            <a:spLocks noGrp="1"/>
          </p:cNvSpPr>
          <p:nvPr>
            <p:ph idx="1"/>
          </p:nvPr>
        </p:nvSpPr>
        <p:spPr/>
        <p:txBody>
          <a:bodyPr/>
          <a:lstStyle/>
          <a:p>
            <a:r>
              <a:t>Applying framework to other cities for comparative validation.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Policy and Governance Alignment</a:t>
            </a:r>
          </a:p>
        </p:txBody>
      </p:sp>
      <p:sp>
        <p:nvSpPr>
          <p:cNvPr id="3" name="Content Placeholder 2"/>
          <p:cNvSpPr>
            <a:spLocks noGrp="1"/>
          </p:cNvSpPr>
          <p:nvPr>
            <p:ph idx="1"/>
          </p:nvPr>
        </p:nvSpPr>
        <p:spPr/>
        <p:txBody>
          <a:bodyPr/>
          <a:lstStyle/>
          <a:p>
            <a:r>
              <a:t>Algorithmic fairness audits and urban policy integration.</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Key Takeaways</a:t>
            </a:r>
          </a:p>
        </p:txBody>
      </p:sp>
      <p:sp>
        <p:nvSpPr>
          <p:cNvPr id="3" name="Content Placeholder 2"/>
          <p:cNvSpPr>
            <a:spLocks noGrp="1"/>
          </p:cNvSpPr>
          <p:nvPr>
            <p:ph idx="1"/>
          </p:nvPr>
        </p:nvSpPr>
        <p:spPr/>
        <p:txBody>
          <a:bodyPr/>
          <a:lstStyle/>
          <a:p>
            <a:r>
              <a:t>ML enables sustainable, fair, and efficient ride-hailing operations.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Acknowledgments</a:t>
            </a:r>
          </a:p>
        </p:txBody>
      </p:sp>
      <p:sp>
        <p:nvSpPr>
          <p:cNvPr id="3" name="Content Placeholder 2"/>
          <p:cNvSpPr>
            <a:spLocks noGrp="1"/>
          </p:cNvSpPr>
          <p:nvPr>
            <p:ph idx="1"/>
          </p:nvPr>
        </p:nvSpPr>
        <p:spPr/>
        <p:txBody>
          <a:bodyPr/>
          <a:lstStyle/>
          <a:p>
            <a:r>
              <a:t>Recognition of mentors, collaborators, and data contributors.</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References and Thank You</a:t>
            </a:r>
          </a:p>
        </p:txBody>
      </p:sp>
      <p:sp>
        <p:nvSpPr>
          <p:cNvPr id="3" name="Content Placeholder 2"/>
          <p:cNvSpPr>
            <a:spLocks noGrp="1"/>
          </p:cNvSpPr>
          <p:nvPr>
            <p:ph idx="1"/>
          </p:nvPr>
        </p:nvSpPr>
        <p:spPr/>
        <p:txBody>
          <a:bodyPr/>
          <a:lstStyle/>
          <a:p>
            <a:r>
              <a:t>APA-formatted references and closing remarks.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1387</Words>
  <Application>Microsoft Macintosh PowerPoint</Application>
  <PresentationFormat>On-screen Show (4:3)</PresentationFormat>
  <Paragraphs>127</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Title Slide</vt:lpstr>
      <vt:lpstr>Presentation Overview</vt:lpstr>
      <vt:lpstr>Why Ride-Hailing Matters</vt:lpstr>
      <vt:lpstr>Problem in Delhi NCR</vt:lpstr>
      <vt:lpstr>Data-Driven Mobility</vt:lpstr>
      <vt:lpstr>Research Aim and Hypothesis</vt:lpstr>
      <vt:lpstr>Demand Forecasting Research</vt:lpstr>
      <vt:lpstr>Revenue and Pricing Studies</vt:lpstr>
      <vt:lpstr>Operational Analytics Insights</vt:lpstr>
      <vt:lpstr>Fairness and Sustainability Literature</vt:lpstr>
      <vt:lpstr>Identified Gaps in Literature</vt:lpstr>
      <vt:lpstr>Conceptual Framework</vt:lpstr>
      <vt:lpstr>Data Overview</vt:lpstr>
      <vt:lpstr>Tools and Environment</vt:lpstr>
      <vt:lpstr>Data Cleaning Workflow</vt:lpstr>
      <vt:lpstr>Feature Engineering Process</vt:lpstr>
      <vt:lpstr>Modeling Pipeline</vt:lpstr>
      <vt:lpstr>Evaluation Metrics</vt:lpstr>
      <vt:lpstr>Workflow Summary</vt:lpstr>
      <vt:lpstr>Forecasting Model Comparison</vt:lpstr>
      <vt:lpstr>Temporal Demand Patterns</vt:lpstr>
      <vt:lpstr>Fare Prediction Accuracy</vt:lpstr>
      <vt:lpstr>Surge Pricing Distribution</vt:lpstr>
      <vt:lpstr>Service Fulfillment and Cancellations</vt:lpstr>
      <vt:lpstr>Fleet Utilization and Regional Flow</vt:lpstr>
      <vt:lpstr>Emission Reduction Outcomes</vt:lpstr>
      <vt:lpstr>Equity and Coverage Improvement</vt:lpstr>
      <vt:lpstr>Interpreting Model Results</vt:lpstr>
      <vt:lpstr>Comparison with Past Studies</vt:lpstr>
      <vt:lpstr>Implications for Ride-Hailing Systems</vt:lpstr>
      <vt:lpstr>Summary of Findings</vt:lpstr>
      <vt:lpstr>Key Achievements</vt:lpstr>
      <vt:lpstr>Limitations</vt:lpstr>
      <vt:lpstr>Explainable AI in Mobility</vt:lpstr>
      <vt:lpstr>Integration with Real-Time Data</vt:lpstr>
      <vt:lpstr>Scalability and Cross-City Testing</vt:lpstr>
      <vt:lpstr>Policy and Governance Alignment</vt:lpstr>
      <vt:lpstr>Key Takeaways</vt:lpstr>
      <vt:lpstr>Acknowledgments</vt:lpstr>
      <vt:lpstr>References and Thank You</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Sandeep Kang</cp:lastModifiedBy>
  <cp:revision>2</cp:revision>
  <dcterms:created xsi:type="dcterms:W3CDTF">2013-01-27T09:14:16Z</dcterms:created>
  <dcterms:modified xsi:type="dcterms:W3CDTF">2025-11-11T16:25:53Z</dcterms:modified>
  <cp:category/>
</cp:coreProperties>
</file>